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</p:sldIdLst>
  <p:notesMasterIdLst>
    <p:notesMasterId r:id="rId21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notesMaster" Target="notesMasters/notesMaster1.xml"/><Relationship Id="rId22" Type="http://schemas.openxmlformats.org/officeDocument/2006/relationships/presProps" Target="presProps.xml"/><Relationship Id="rId23" Type="http://schemas.openxmlformats.org/officeDocument/2006/relationships/viewProps" Target="viewProps.xml"/><Relationship Id="rId24" Type="http://schemas.openxmlformats.org/officeDocument/2006/relationships/theme" Target="theme/theme1.xml"/><Relationship Id="rId2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A1A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F37021"/>
          </a:solidFill>
          <a:ln/>
        </p:spPr>
      </p:sp>
      <p:pic>
        <p:nvPicPr>
          <p:cNvPr id="3" name="Image 0" descr="C:\Users\pc\Projects\safety-observation-card\public\logo\BACT Logo_OG White Tex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320040"/>
            <a:ext cx="1920240" cy="749808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502920" y="1325880"/>
            <a:ext cx="80467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3702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PENGAJUAN INTERNAL</a:t>
            </a:r>
            <a:endParaRPr lang="en-US" sz="1200" dirty="0"/>
          </a:p>
        </p:txBody>
      </p:sp>
      <p:sp>
        <p:nvSpPr>
          <p:cNvPr id="5" name="Text 2"/>
          <p:cNvSpPr/>
          <p:nvPr/>
        </p:nvSpPr>
        <p:spPr>
          <a:xfrm>
            <a:off x="502920" y="1645920"/>
            <a:ext cx="8046720" cy="1325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Hosting, Domain &amp; Upgrade</a:t>
            </a:r>
            <a:endParaRPr lang="en-US" sz="3000" dirty="0"/>
          </a:p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Safety Observation Card</a:t>
            </a:r>
            <a:endParaRPr lang="en-US" sz="3000" dirty="0"/>
          </a:p>
        </p:txBody>
      </p:sp>
      <p:sp>
        <p:nvSpPr>
          <p:cNvPr id="6" name="Text 3"/>
          <p:cNvSpPr/>
          <p:nvPr/>
        </p:nvSpPr>
        <p:spPr>
          <a:xfrm>
            <a:off x="502920" y="3108960"/>
            <a:ext cx="78638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CBD5E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Tiga tagihan terpisah: Hostinger (web + domain + mailbox terima) · Supabase (database) · Resend (kirim email).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CBD5E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Bukan satu paket all-in. Angka publik 12 September 2026.</a:t>
            </a:r>
            <a:endParaRPr lang="en-US" sz="1400" dirty="0"/>
          </a:p>
        </p:txBody>
      </p:sp>
      <p:sp>
        <p:nvSpPr>
          <p:cNvPr id="7" name="Text 4"/>
          <p:cNvSpPr/>
          <p:nvPr/>
        </p:nvSpPr>
        <p:spPr>
          <a:xfrm>
            <a:off x="502920" y="4434840"/>
            <a:ext cx="7315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PT. BACT  ·  HSSE / IT  ·  September 2026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04672"/>
          </a:xfrm>
          <a:prstGeom prst="rect">
            <a:avLst/>
          </a:prstGeom>
          <a:solidFill>
            <a:srgbClr val="1A1A1A"/>
          </a:solidFill>
          <a:ln/>
        </p:spPr>
      </p:sp>
      <p:pic>
        <p:nvPicPr>
          <p:cNvPr id="3" name="Image 0" descr="C:\Users\pc\Projects\safety-observation-card\public\logo\BACT Logo_OG White Tex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56032" y="128016"/>
            <a:ext cx="1325880" cy="53035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691640" y="128016"/>
            <a:ext cx="70408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3702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Ringkasan usulan</a:t>
            </a:r>
            <a:endParaRPr lang="en-US" sz="2000" dirty="0"/>
          </a:p>
        </p:txBody>
      </p:sp>
      <p:sp>
        <p:nvSpPr>
          <p:cNvPr id="5" name="Text 2"/>
          <p:cNvSpPr/>
          <p:nvPr/>
        </p:nvSpPr>
        <p:spPr>
          <a:xfrm>
            <a:off x="1691640" y="457200"/>
            <a:ext cx="70408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Yang diminta dari manajemen, dalam satu halaman</a:t>
            </a:r>
            <a:endParaRPr lang="en-US" sz="1100" dirty="0"/>
          </a:p>
        </p:txBody>
      </p:sp>
      <p:sp>
        <p:nvSpPr>
          <p:cNvPr id="6" name="Shape 3"/>
          <p:cNvSpPr/>
          <p:nvPr/>
        </p:nvSpPr>
        <p:spPr>
          <a:xfrm>
            <a:off x="0" y="804672"/>
            <a:ext cx="9144000" cy="32004"/>
          </a:xfrm>
          <a:prstGeom prst="rect">
            <a:avLst/>
          </a:prstGeom>
          <a:solidFill>
            <a:srgbClr val="F37021"/>
          </a:solidFill>
          <a:ln/>
        </p:spPr>
      </p:sp>
      <p:sp>
        <p:nvSpPr>
          <p:cNvPr id="7" name="Text 4"/>
          <p:cNvSpPr/>
          <p:nvPr/>
        </p:nvSpPr>
        <p:spPr>
          <a:xfrm>
            <a:off x="365760" y="4709160"/>
            <a:ext cx="84124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PT. BACT · Pengajuan Hosting &amp; Domain SOC · September 2026</a:t>
            </a:r>
            <a:endParaRPr lang="en-US" sz="800" dirty="0"/>
          </a:p>
        </p:txBody>
      </p:sp>
      <p:sp>
        <p:nvSpPr>
          <p:cNvPr id="8" name="Shape 5"/>
          <p:cNvSpPr/>
          <p:nvPr/>
        </p:nvSpPr>
        <p:spPr>
          <a:xfrm>
            <a:off x="320040" y="1051560"/>
            <a:ext cx="4114800" cy="1554480"/>
          </a:xfrm>
          <a:prstGeom prst="roundRect">
            <a:avLst>
              <a:gd name="adj" fmla="val 4706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429768" y="1179576"/>
            <a:ext cx="256032" cy="256032"/>
          </a:xfrm>
          <a:prstGeom prst="roundRect">
            <a:avLst>
              <a:gd name="adj" fmla="val 17857"/>
            </a:avLst>
          </a:prstGeom>
          <a:solidFill>
            <a:srgbClr val="F37021"/>
          </a:solidFill>
          <a:ln/>
        </p:spPr>
      </p:sp>
      <p:sp>
        <p:nvSpPr>
          <p:cNvPr id="10" name="Text 7"/>
          <p:cNvSpPr/>
          <p:nvPr/>
        </p:nvSpPr>
        <p:spPr>
          <a:xfrm>
            <a:off x="777240" y="1143000"/>
            <a:ext cx="3547872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1A1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1. Upgrade cara kerja HSE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448056" y="1490472"/>
            <a:ext cx="3858768" cy="102412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SOC saat ini masih Excel — lambat, sulit di lapangan, sulit dilacak. Aplikasi SOC BACT sudah hidup sebagai pengganti.</a:t>
            </a:r>
            <a:endParaRPr lang="en-US" sz="1100" dirty="0"/>
          </a:p>
        </p:txBody>
      </p:sp>
      <p:sp>
        <p:nvSpPr>
          <p:cNvPr id="12" name="Shape 9"/>
          <p:cNvSpPr/>
          <p:nvPr/>
        </p:nvSpPr>
        <p:spPr>
          <a:xfrm>
            <a:off x="4617720" y="1051560"/>
            <a:ext cx="4114800" cy="1554480"/>
          </a:xfrm>
          <a:prstGeom prst="roundRect">
            <a:avLst>
              <a:gd name="adj" fmla="val 4706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4727448" y="1179576"/>
            <a:ext cx="256032" cy="256032"/>
          </a:xfrm>
          <a:prstGeom prst="roundRect">
            <a:avLst>
              <a:gd name="adj" fmla="val 17857"/>
            </a:avLst>
          </a:prstGeom>
          <a:solidFill>
            <a:srgbClr val="3B82F6"/>
          </a:solidFill>
          <a:ln/>
        </p:spPr>
      </p:sp>
      <p:sp>
        <p:nvSpPr>
          <p:cNvPr id="14" name="Text 11"/>
          <p:cNvSpPr/>
          <p:nvPr/>
        </p:nvSpPr>
        <p:spPr>
          <a:xfrm>
            <a:off x="5074920" y="1143000"/>
            <a:ext cx="3547872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1A1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2. Domain &amp; hosting resmi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4745736" y="1490472"/>
            <a:ext cx="3858768" cy="102412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Hostinger Unlimited: website, domain, SSL, backup file, dan mailbox untuk menerima email. Bukan tempat database laporan.</a:t>
            </a:r>
            <a:endParaRPr lang="en-US" sz="1100" dirty="0"/>
          </a:p>
        </p:txBody>
      </p:sp>
      <p:sp>
        <p:nvSpPr>
          <p:cNvPr id="16" name="Shape 13"/>
          <p:cNvSpPr/>
          <p:nvPr/>
        </p:nvSpPr>
        <p:spPr>
          <a:xfrm>
            <a:off x="320040" y="2743200"/>
            <a:ext cx="4114800" cy="1554480"/>
          </a:xfrm>
          <a:prstGeom prst="roundRect">
            <a:avLst>
              <a:gd name="adj" fmla="val 4706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429768" y="2871216"/>
            <a:ext cx="256032" cy="256032"/>
          </a:xfrm>
          <a:prstGeom prst="roundRect">
            <a:avLst>
              <a:gd name="adj" fmla="val 17857"/>
            </a:avLst>
          </a:prstGeom>
          <a:solidFill>
            <a:srgbClr val="10B981"/>
          </a:solidFill>
          <a:ln/>
        </p:spPr>
      </p:sp>
      <p:sp>
        <p:nvSpPr>
          <p:cNvPr id="18" name="Text 15"/>
          <p:cNvSpPr/>
          <p:nvPr/>
        </p:nvSpPr>
        <p:spPr>
          <a:xfrm>
            <a:off x="777240" y="2834640"/>
            <a:ext cx="3547872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1A1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3. Bayar Hostinger sekarang</a:t>
            </a:r>
            <a:endParaRPr lang="en-US" sz="1200" dirty="0"/>
          </a:p>
        </p:txBody>
      </p:sp>
      <p:sp>
        <p:nvSpPr>
          <p:cNvPr id="19" name="Text 16"/>
          <p:cNvSpPr/>
          <p:nvPr/>
        </p:nvSpPr>
        <p:spPr>
          <a:xfrm>
            <a:off x="448056" y="3182112"/>
            <a:ext cx="3858768" cy="102412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Keranjang 48 bulan: Rp38.900/bln + pajak Rp205.392 = Rp2.072.592. Domain &amp; mailbox terima gratis tahun pertama.</a:t>
            </a:r>
            <a:endParaRPr lang="en-US" sz="1100" dirty="0"/>
          </a:p>
        </p:txBody>
      </p:sp>
      <p:sp>
        <p:nvSpPr>
          <p:cNvPr id="20" name="Shape 17"/>
          <p:cNvSpPr/>
          <p:nvPr/>
        </p:nvSpPr>
        <p:spPr>
          <a:xfrm>
            <a:off x="4617720" y="2743200"/>
            <a:ext cx="4114800" cy="1554480"/>
          </a:xfrm>
          <a:prstGeom prst="roundRect">
            <a:avLst>
              <a:gd name="adj" fmla="val 4706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>
            <a:off x="4727448" y="2871216"/>
            <a:ext cx="256032" cy="256032"/>
          </a:xfrm>
          <a:prstGeom prst="roundRect">
            <a:avLst>
              <a:gd name="adj" fmla="val 17857"/>
            </a:avLst>
          </a:prstGeom>
          <a:solidFill>
            <a:srgbClr val="8B5CF6"/>
          </a:solidFill>
          <a:ln/>
        </p:spPr>
      </p:sp>
      <p:sp>
        <p:nvSpPr>
          <p:cNvPr id="22" name="Text 19"/>
          <p:cNvSpPr/>
          <p:nvPr/>
        </p:nvSpPr>
        <p:spPr>
          <a:xfrm>
            <a:off x="5074920" y="2834640"/>
            <a:ext cx="3547872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1A1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4. Database &amp; kirim email terpisah</a:t>
            </a:r>
            <a:endParaRPr lang="en-US" sz="1200" dirty="0"/>
          </a:p>
        </p:txBody>
      </p:sp>
      <p:sp>
        <p:nvSpPr>
          <p:cNvPr id="23" name="Text 20"/>
          <p:cNvSpPr/>
          <p:nvPr/>
        </p:nvSpPr>
        <p:spPr>
          <a:xfrm>
            <a:off x="4745736" y="3182112"/>
            <a:ext cx="3858768" cy="102412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Supabase (data, login, foto) dan Resend (notifikasi keluar) tetap dipakai. Sekarang Free. Pro hanya jika volume naik.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04672"/>
          </a:xfrm>
          <a:prstGeom prst="rect">
            <a:avLst/>
          </a:prstGeom>
          <a:solidFill>
            <a:srgbClr val="1A1A1A"/>
          </a:solidFill>
          <a:ln/>
        </p:spPr>
      </p:sp>
      <p:pic>
        <p:nvPicPr>
          <p:cNvPr id="3" name="Image 0" descr="C:\Users\pc\Projects\safety-observation-card\public\logo\BACT Logo_OG White Tex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56032" y="128016"/>
            <a:ext cx="1325880" cy="53035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691640" y="128016"/>
            <a:ext cx="70408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3702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Tiga tagihan, bukan satu</a:t>
            </a:r>
            <a:endParaRPr lang="en-US" sz="2000" dirty="0"/>
          </a:p>
        </p:txBody>
      </p:sp>
      <p:sp>
        <p:nvSpPr>
          <p:cNvPr id="5" name="Text 2"/>
          <p:cNvSpPr/>
          <p:nvPr/>
        </p:nvSpPr>
        <p:spPr>
          <a:xfrm>
            <a:off x="1691640" y="457200"/>
            <a:ext cx="70408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Ini yang paling sering disalahpahami — Hostinger tidak termasuk database</a:t>
            </a:r>
            <a:endParaRPr lang="en-US" sz="1100" dirty="0"/>
          </a:p>
        </p:txBody>
      </p:sp>
      <p:sp>
        <p:nvSpPr>
          <p:cNvPr id="6" name="Shape 3"/>
          <p:cNvSpPr/>
          <p:nvPr/>
        </p:nvSpPr>
        <p:spPr>
          <a:xfrm>
            <a:off x="0" y="804672"/>
            <a:ext cx="9144000" cy="32004"/>
          </a:xfrm>
          <a:prstGeom prst="rect">
            <a:avLst/>
          </a:prstGeom>
          <a:solidFill>
            <a:srgbClr val="F37021"/>
          </a:solidFill>
          <a:ln/>
        </p:spPr>
      </p:sp>
      <p:sp>
        <p:nvSpPr>
          <p:cNvPr id="7" name="Text 4"/>
          <p:cNvSpPr/>
          <p:nvPr/>
        </p:nvSpPr>
        <p:spPr>
          <a:xfrm>
            <a:off x="365760" y="4709160"/>
            <a:ext cx="84124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PT. BACT · Pengajuan Hosting &amp; Domain SOC · September 2026</a:t>
            </a:r>
            <a:endParaRPr lang="en-US" sz="800" dirty="0"/>
          </a:p>
        </p:txBody>
      </p:sp>
      <p:sp>
        <p:nvSpPr>
          <p:cNvPr id="8" name="Shape 5"/>
          <p:cNvSpPr/>
          <p:nvPr/>
        </p:nvSpPr>
        <p:spPr>
          <a:xfrm>
            <a:off x="292608" y="1051560"/>
            <a:ext cx="2761488" cy="2331720"/>
          </a:xfrm>
          <a:prstGeom prst="roundRect">
            <a:avLst>
              <a:gd name="adj" fmla="val 3137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402336" y="1179576"/>
            <a:ext cx="256032" cy="256032"/>
          </a:xfrm>
          <a:prstGeom prst="roundRect">
            <a:avLst>
              <a:gd name="adj" fmla="val 17857"/>
            </a:avLst>
          </a:prstGeom>
          <a:solidFill>
            <a:srgbClr val="F37021"/>
          </a:solidFill>
          <a:ln/>
        </p:spPr>
      </p:sp>
      <p:sp>
        <p:nvSpPr>
          <p:cNvPr id="10" name="Text 7"/>
          <p:cNvSpPr/>
          <p:nvPr/>
        </p:nvSpPr>
        <p:spPr>
          <a:xfrm>
            <a:off x="749808" y="1143000"/>
            <a:ext cx="21945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1A1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Hostinger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420624" y="1490472"/>
            <a:ext cx="2505456" cy="18013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Website + domain + SSL + backup file + mailbox untuk BACA / TERIMA email (contoh hse@domain). Tidak menyimpan laporan SOC, login HSE, atau foto bukti.</a:t>
            </a:r>
            <a:endParaRPr lang="en-US" sz="1100" dirty="0"/>
          </a:p>
        </p:txBody>
      </p:sp>
      <p:sp>
        <p:nvSpPr>
          <p:cNvPr id="12" name="Shape 9"/>
          <p:cNvSpPr/>
          <p:nvPr/>
        </p:nvSpPr>
        <p:spPr>
          <a:xfrm>
            <a:off x="3172968" y="1051560"/>
            <a:ext cx="2761488" cy="2331720"/>
          </a:xfrm>
          <a:prstGeom prst="roundRect">
            <a:avLst>
              <a:gd name="adj" fmla="val 3137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3282696" y="1179576"/>
            <a:ext cx="256032" cy="256032"/>
          </a:xfrm>
          <a:prstGeom prst="roundRect">
            <a:avLst>
              <a:gd name="adj" fmla="val 17857"/>
            </a:avLst>
          </a:prstGeom>
          <a:solidFill>
            <a:srgbClr val="10B981"/>
          </a:solidFill>
          <a:ln/>
        </p:spPr>
      </p:sp>
      <p:sp>
        <p:nvSpPr>
          <p:cNvPr id="14" name="Text 11"/>
          <p:cNvSpPr/>
          <p:nvPr/>
        </p:nvSpPr>
        <p:spPr>
          <a:xfrm>
            <a:off x="3630168" y="1143000"/>
            <a:ext cx="21945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1A1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Supabase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3300984" y="1490472"/>
            <a:ext cx="2505456" cy="18013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Database, Auth (login admin), dan storage foto. Invoice terpisah. Sekarang Free ($0). Pro dari $25/bln kalau nanti butuh backup harian / kapasitas lebih besar.</a:t>
            </a:r>
            <a:endParaRPr lang="en-US" sz="1100" dirty="0"/>
          </a:p>
        </p:txBody>
      </p:sp>
      <p:sp>
        <p:nvSpPr>
          <p:cNvPr id="16" name="Shape 13"/>
          <p:cNvSpPr/>
          <p:nvPr/>
        </p:nvSpPr>
        <p:spPr>
          <a:xfrm>
            <a:off x="6053328" y="1051560"/>
            <a:ext cx="2761488" cy="2331720"/>
          </a:xfrm>
          <a:prstGeom prst="roundRect">
            <a:avLst>
              <a:gd name="adj" fmla="val 3137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6163056" y="1179576"/>
            <a:ext cx="256032" cy="256032"/>
          </a:xfrm>
          <a:prstGeom prst="roundRect">
            <a:avLst>
              <a:gd name="adj" fmla="val 17857"/>
            </a:avLst>
          </a:prstGeom>
          <a:solidFill>
            <a:srgbClr val="6366F1"/>
          </a:solidFill>
          <a:ln/>
        </p:spPr>
      </p:sp>
      <p:sp>
        <p:nvSpPr>
          <p:cNvPr id="18" name="Text 15"/>
          <p:cNvSpPr/>
          <p:nvPr/>
        </p:nvSpPr>
        <p:spPr>
          <a:xfrm>
            <a:off x="6510528" y="1143000"/>
            <a:ext cx="21945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1A1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Resend</a:t>
            </a:r>
            <a:endParaRPr lang="en-US" sz="1200" dirty="0"/>
          </a:p>
        </p:txBody>
      </p:sp>
      <p:sp>
        <p:nvSpPr>
          <p:cNvPr id="19" name="Text 16"/>
          <p:cNvSpPr/>
          <p:nvPr/>
        </p:nvSpPr>
        <p:spPr>
          <a:xfrm>
            <a:off x="6181344" y="1490472"/>
            <a:ext cx="2505456" cy="18013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Kirim notifikasi transaksional (laporan baru, HiPo). Tetap Resend — SMTP Hostinger tidak dipakai untuk kirim. Sekarang Free ($0). Pro dari $20/bln.</a:t>
            </a:r>
            <a:endParaRPr lang="en-US" sz="1100" dirty="0"/>
          </a:p>
        </p:txBody>
      </p:sp>
      <p:sp>
        <p:nvSpPr>
          <p:cNvPr id="20" name="Text 17"/>
          <p:cNvSpPr/>
          <p:nvPr/>
        </p:nvSpPr>
        <p:spPr>
          <a:xfrm>
            <a:off x="365760" y="3566160"/>
            <a:ext cx="841248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Mailbox Hostinger = kotak masuk perusahaan. Resend = mesin pengirim otomatis. Jangan campur: kita tidak pindah kirim notifikasi ke SMTP Hostinger.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04672"/>
          </a:xfrm>
          <a:prstGeom prst="rect">
            <a:avLst/>
          </a:prstGeom>
          <a:solidFill>
            <a:srgbClr val="1A1A1A"/>
          </a:solidFill>
          <a:ln/>
        </p:spPr>
      </p:sp>
      <p:pic>
        <p:nvPicPr>
          <p:cNvPr id="3" name="Image 0" descr="C:\Users\pc\Projects\safety-observation-card\public\logo\BACT Logo_OG White Tex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56032" y="128016"/>
            <a:ext cx="1325880" cy="53035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691640" y="128016"/>
            <a:ext cx="70408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3702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Kondisi sekarang: SOC masih Excel</a:t>
            </a:r>
            <a:endParaRPr lang="en-US" sz="2000" dirty="0"/>
          </a:p>
        </p:txBody>
      </p:sp>
      <p:sp>
        <p:nvSpPr>
          <p:cNvPr id="5" name="Text 2"/>
          <p:cNvSpPr/>
          <p:nvPr/>
        </p:nvSpPr>
        <p:spPr>
          <a:xfrm>
            <a:off x="1691640" y="457200"/>
            <a:ext cx="70408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Alasan pengajuan ini lebih dari sekadar beli hosting</a:t>
            </a:r>
            <a:endParaRPr lang="en-US" sz="1100" dirty="0"/>
          </a:p>
        </p:txBody>
      </p:sp>
      <p:sp>
        <p:nvSpPr>
          <p:cNvPr id="6" name="Shape 3"/>
          <p:cNvSpPr/>
          <p:nvPr/>
        </p:nvSpPr>
        <p:spPr>
          <a:xfrm>
            <a:off x="0" y="804672"/>
            <a:ext cx="9144000" cy="32004"/>
          </a:xfrm>
          <a:prstGeom prst="rect">
            <a:avLst/>
          </a:prstGeom>
          <a:solidFill>
            <a:srgbClr val="F37021"/>
          </a:solidFill>
          <a:ln/>
        </p:spPr>
      </p:sp>
      <p:sp>
        <p:nvSpPr>
          <p:cNvPr id="7" name="Text 4"/>
          <p:cNvSpPr/>
          <p:nvPr/>
        </p:nvSpPr>
        <p:spPr>
          <a:xfrm>
            <a:off x="365760" y="4709160"/>
            <a:ext cx="84124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PT. BACT · Pengajuan Hosting &amp; Domain SOC · September 2026</a:t>
            </a:r>
            <a:endParaRPr lang="en-US" sz="800" dirty="0"/>
          </a:p>
        </p:txBody>
      </p:sp>
      <p:sp>
        <p:nvSpPr>
          <p:cNvPr id="8" name="Shape 5"/>
          <p:cNvSpPr/>
          <p:nvPr/>
        </p:nvSpPr>
        <p:spPr>
          <a:xfrm>
            <a:off x="292608" y="1051560"/>
            <a:ext cx="2761488" cy="1554480"/>
          </a:xfrm>
          <a:prstGeom prst="roundRect">
            <a:avLst>
              <a:gd name="adj" fmla="val 4706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402336" y="1179576"/>
            <a:ext cx="256032" cy="256032"/>
          </a:xfrm>
          <a:prstGeom prst="roundRect">
            <a:avLst>
              <a:gd name="adj" fmla="val 17857"/>
            </a:avLst>
          </a:prstGeom>
          <a:solidFill>
            <a:srgbClr val="EF4444"/>
          </a:solidFill>
          <a:ln/>
        </p:spPr>
      </p:sp>
      <p:sp>
        <p:nvSpPr>
          <p:cNvPr id="10" name="Text 7"/>
          <p:cNvSpPr/>
          <p:nvPr/>
        </p:nvSpPr>
        <p:spPr>
          <a:xfrm>
            <a:off x="749808" y="1143000"/>
            <a:ext cx="21945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1A1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Lambat di lapangan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420624" y="1490472"/>
            <a:ext cx="2505456" cy="102412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Isi kertas/Excel di office, bukan dari HP saat kejadian. Data sering telat atau tidak lengkap.</a:t>
            </a:r>
            <a:endParaRPr lang="en-US" sz="1100" dirty="0"/>
          </a:p>
        </p:txBody>
      </p:sp>
      <p:sp>
        <p:nvSpPr>
          <p:cNvPr id="12" name="Shape 9"/>
          <p:cNvSpPr/>
          <p:nvPr/>
        </p:nvSpPr>
        <p:spPr>
          <a:xfrm>
            <a:off x="3172968" y="1051560"/>
            <a:ext cx="2761488" cy="1554480"/>
          </a:xfrm>
          <a:prstGeom prst="roundRect">
            <a:avLst>
              <a:gd name="adj" fmla="val 4706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3282696" y="1179576"/>
            <a:ext cx="256032" cy="256032"/>
          </a:xfrm>
          <a:prstGeom prst="roundRect">
            <a:avLst>
              <a:gd name="adj" fmla="val 17857"/>
            </a:avLst>
          </a:prstGeom>
          <a:solidFill>
            <a:srgbClr val="EF4444"/>
          </a:solidFill>
          <a:ln/>
        </p:spPr>
      </p:sp>
      <p:sp>
        <p:nvSpPr>
          <p:cNvPr id="14" name="Text 11"/>
          <p:cNvSpPr/>
          <p:nvPr/>
        </p:nvSpPr>
        <p:spPr>
          <a:xfrm>
            <a:off x="3630168" y="1143000"/>
            <a:ext cx="21945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1A1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File tercecer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3300984" y="1490472"/>
            <a:ext cx="2505456" cy="102412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Banyak versi, copy di WhatsApp, sulit tahu mana yang terbaru. Mudah hilang saat ganti PIC/HSE.</a:t>
            </a:r>
            <a:endParaRPr lang="en-US" sz="1100" dirty="0"/>
          </a:p>
        </p:txBody>
      </p:sp>
      <p:sp>
        <p:nvSpPr>
          <p:cNvPr id="16" name="Shape 13"/>
          <p:cNvSpPr/>
          <p:nvPr/>
        </p:nvSpPr>
        <p:spPr>
          <a:xfrm>
            <a:off x="6053328" y="1051560"/>
            <a:ext cx="2761488" cy="1554480"/>
          </a:xfrm>
          <a:prstGeom prst="roundRect">
            <a:avLst>
              <a:gd name="adj" fmla="val 4706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6163056" y="1179576"/>
            <a:ext cx="256032" cy="256032"/>
          </a:xfrm>
          <a:prstGeom prst="roundRect">
            <a:avLst>
              <a:gd name="adj" fmla="val 17857"/>
            </a:avLst>
          </a:prstGeom>
          <a:solidFill>
            <a:srgbClr val="EF4444"/>
          </a:solidFill>
          <a:ln/>
        </p:spPr>
      </p:sp>
      <p:sp>
        <p:nvSpPr>
          <p:cNvPr id="18" name="Text 15"/>
          <p:cNvSpPr/>
          <p:nvPr/>
        </p:nvSpPr>
        <p:spPr>
          <a:xfrm>
            <a:off x="6510528" y="1143000"/>
            <a:ext cx="21945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1A1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Sulit ditindaklanjuti</a:t>
            </a:r>
            <a:endParaRPr lang="en-US" sz="1200" dirty="0"/>
          </a:p>
        </p:txBody>
      </p:sp>
      <p:sp>
        <p:nvSpPr>
          <p:cNvPr id="19" name="Text 16"/>
          <p:cNvSpPr/>
          <p:nvPr/>
        </p:nvSpPr>
        <p:spPr>
          <a:xfrm>
            <a:off x="6181344" y="1490472"/>
            <a:ext cx="2505456" cy="102412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Tidak ada antrian klasifikasi, status Open → Closed, investigasi, atau PDF Notice resmi.</a:t>
            </a:r>
            <a:endParaRPr lang="en-US" sz="1100" dirty="0"/>
          </a:p>
        </p:txBody>
      </p:sp>
      <p:sp>
        <p:nvSpPr>
          <p:cNvPr id="20" name="Shape 17"/>
          <p:cNvSpPr/>
          <p:nvPr/>
        </p:nvSpPr>
        <p:spPr>
          <a:xfrm>
            <a:off x="292608" y="2743200"/>
            <a:ext cx="2761488" cy="1554480"/>
          </a:xfrm>
          <a:prstGeom prst="roundRect">
            <a:avLst>
              <a:gd name="adj" fmla="val 4706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>
            <a:off x="402336" y="2871216"/>
            <a:ext cx="256032" cy="256032"/>
          </a:xfrm>
          <a:prstGeom prst="roundRect">
            <a:avLst>
              <a:gd name="adj" fmla="val 17857"/>
            </a:avLst>
          </a:prstGeom>
          <a:solidFill>
            <a:srgbClr val="F59E0B"/>
          </a:solidFill>
          <a:ln/>
        </p:spPr>
      </p:sp>
      <p:sp>
        <p:nvSpPr>
          <p:cNvPr id="22" name="Text 19"/>
          <p:cNvSpPr/>
          <p:nvPr/>
        </p:nvSpPr>
        <p:spPr>
          <a:xfrm>
            <a:off x="749808" y="2834640"/>
            <a:ext cx="21945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1A1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Analitik manual</a:t>
            </a:r>
            <a:endParaRPr lang="en-US" sz="1200" dirty="0"/>
          </a:p>
        </p:txBody>
      </p:sp>
      <p:sp>
        <p:nvSpPr>
          <p:cNvPr id="23" name="Text 20"/>
          <p:cNvSpPr/>
          <p:nvPr/>
        </p:nvSpPr>
        <p:spPr>
          <a:xfrm>
            <a:off x="420624" y="3182112"/>
            <a:ext cx="2505456" cy="102412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Rekap HiPo, lokasi, kontraktor, tren bulanan diketik ulang. Rawan salah hitung.</a:t>
            </a:r>
            <a:endParaRPr lang="en-US" sz="1100" dirty="0"/>
          </a:p>
        </p:txBody>
      </p:sp>
      <p:sp>
        <p:nvSpPr>
          <p:cNvPr id="24" name="Shape 21"/>
          <p:cNvSpPr/>
          <p:nvPr/>
        </p:nvSpPr>
        <p:spPr>
          <a:xfrm>
            <a:off x="3172968" y="2743200"/>
            <a:ext cx="2761488" cy="1554480"/>
          </a:xfrm>
          <a:prstGeom prst="roundRect">
            <a:avLst>
              <a:gd name="adj" fmla="val 4706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5" name="Shape 22"/>
          <p:cNvSpPr/>
          <p:nvPr/>
        </p:nvSpPr>
        <p:spPr>
          <a:xfrm>
            <a:off x="3282696" y="2871216"/>
            <a:ext cx="256032" cy="256032"/>
          </a:xfrm>
          <a:prstGeom prst="roundRect">
            <a:avLst>
              <a:gd name="adj" fmla="val 17857"/>
            </a:avLst>
          </a:prstGeom>
          <a:solidFill>
            <a:srgbClr val="F59E0B"/>
          </a:solidFill>
          <a:ln/>
        </p:spPr>
      </p:sp>
      <p:sp>
        <p:nvSpPr>
          <p:cNvPr id="26" name="Text 23"/>
          <p:cNvSpPr/>
          <p:nvPr/>
        </p:nvSpPr>
        <p:spPr>
          <a:xfrm>
            <a:off x="3630168" y="2834640"/>
            <a:ext cx="21945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1A1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Akses tidak terkontrol</a:t>
            </a:r>
            <a:endParaRPr lang="en-US" sz="1200" dirty="0"/>
          </a:p>
        </p:txBody>
      </p:sp>
      <p:sp>
        <p:nvSpPr>
          <p:cNvPr id="27" name="Text 24"/>
          <p:cNvSpPr/>
          <p:nvPr/>
        </p:nvSpPr>
        <p:spPr>
          <a:xfrm>
            <a:off x="3300984" y="3182112"/>
            <a:ext cx="2505456" cy="102412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Siapa saja yang pegang file bisa ubah/hapus. Tidak ada jejak siapa mengubah apa.</a:t>
            </a:r>
            <a:endParaRPr lang="en-US" sz="1100" dirty="0"/>
          </a:p>
        </p:txBody>
      </p:sp>
      <p:sp>
        <p:nvSpPr>
          <p:cNvPr id="28" name="Shape 25"/>
          <p:cNvSpPr/>
          <p:nvPr/>
        </p:nvSpPr>
        <p:spPr>
          <a:xfrm>
            <a:off x="6053328" y="2743200"/>
            <a:ext cx="2761488" cy="1554480"/>
          </a:xfrm>
          <a:prstGeom prst="roundRect">
            <a:avLst>
              <a:gd name="adj" fmla="val 4706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Shape 26"/>
          <p:cNvSpPr/>
          <p:nvPr/>
        </p:nvSpPr>
        <p:spPr>
          <a:xfrm>
            <a:off x="6163056" y="2871216"/>
            <a:ext cx="256032" cy="256032"/>
          </a:xfrm>
          <a:prstGeom prst="roundRect">
            <a:avLst>
              <a:gd name="adj" fmla="val 17857"/>
            </a:avLst>
          </a:prstGeom>
          <a:solidFill>
            <a:srgbClr val="F59E0B"/>
          </a:solidFill>
          <a:ln/>
        </p:spPr>
      </p:sp>
      <p:sp>
        <p:nvSpPr>
          <p:cNvPr id="30" name="Text 27"/>
          <p:cNvSpPr/>
          <p:nvPr/>
        </p:nvSpPr>
        <p:spPr>
          <a:xfrm>
            <a:off x="6510528" y="2834640"/>
            <a:ext cx="21945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1A1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Backup lemah</a:t>
            </a:r>
            <a:endParaRPr lang="en-US" sz="1200" dirty="0"/>
          </a:p>
        </p:txBody>
      </p:sp>
      <p:sp>
        <p:nvSpPr>
          <p:cNvPr id="31" name="Text 28"/>
          <p:cNvSpPr/>
          <p:nvPr/>
        </p:nvSpPr>
        <p:spPr>
          <a:xfrm>
            <a:off x="6181344" y="3182112"/>
            <a:ext cx="2505456" cy="102412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Mengandalkan laptop orang. Tidak ada SSL, domain resmi, atau recovery terpusat.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04672"/>
          </a:xfrm>
          <a:prstGeom prst="rect">
            <a:avLst/>
          </a:prstGeom>
          <a:solidFill>
            <a:srgbClr val="1A1A1A"/>
          </a:solidFill>
          <a:ln/>
        </p:spPr>
      </p:sp>
      <p:pic>
        <p:nvPicPr>
          <p:cNvPr id="3" name="Image 0" descr="C:\Users\pc\Projects\safety-observation-card\public\logo\BACT Logo_OG White Tex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56032" y="128016"/>
            <a:ext cx="1325880" cy="53035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691640" y="128016"/>
            <a:ext cx="70408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3702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Excel vs aplikasi SOC BACT</a:t>
            </a:r>
            <a:endParaRPr lang="en-US" sz="2000" dirty="0"/>
          </a:p>
        </p:txBody>
      </p:sp>
      <p:sp>
        <p:nvSpPr>
          <p:cNvPr id="5" name="Text 2"/>
          <p:cNvSpPr/>
          <p:nvPr/>
        </p:nvSpPr>
        <p:spPr>
          <a:xfrm>
            <a:off x="1691640" y="457200"/>
            <a:ext cx="70408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Upgrade masa depan untuk tim HSSE — bukan ganti alat saja</a:t>
            </a:r>
            <a:endParaRPr lang="en-US" sz="1100" dirty="0"/>
          </a:p>
        </p:txBody>
      </p:sp>
      <p:sp>
        <p:nvSpPr>
          <p:cNvPr id="6" name="Shape 3"/>
          <p:cNvSpPr/>
          <p:nvPr/>
        </p:nvSpPr>
        <p:spPr>
          <a:xfrm>
            <a:off x="0" y="804672"/>
            <a:ext cx="9144000" cy="32004"/>
          </a:xfrm>
          <a:prstGeom prst="rect">
            <a:avLst/>
          </a:prstGeom>
          <a:solidFill>
            <a:srgbClr val="F37021"/>
          </a:solidFill>
          <a:ln/>
        </p:spPr>
      </p:sp>
      <p:sp>
        <p:nvSpPr>
          <p:cNvPr id="7" name="Text 4"/>
          <p:cNvSpPr/>
          <p:nvPr/>
        </p:nvSpPr>
        <p:spPr>
          <a:xfrm>
            <a:off x="365760" y="4709160"/>
            <a:ext cx="84124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PT. BACT · Pengajuan Hosting &amp; Domain SOC · September 2026</a:t>
            </a:r>
            <a:endParaRPr lang="en-US" sz="8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92608" y="987552"/>
          <a:ext cx="8558784" cy="914400"/>
        </p:xfrm>
        <a:graphic>
          <a:graphicData uri="http://schemas.openxmlformats.org/drawingml/2006/table">
            <a:tbl>
              <a:tblPr/>
              <a:tblGrid>
                <a:gridCol w="1920240"/>
                <a:gridCol w="3319272"/>
                <a:gridCol w="3319272"/>
              </a:tblGrid>
              <a:tr h="34747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Aspek</a:t>
                      </a:r>
                      <a:endParaRPr lang="en-US" sz="10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1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Excel (sekarang)</a:t>
                      </a:r>
                      <a:endParaRPr lang="en-US" sz="10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1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Aplikasi SOC</a:t>
                      </a:r>
                      <a:endParaRPr lang="en-US" sz="10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1A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334155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Cara lapor</a:t>
                      </a:r>
                      <a:endParaRPr lang="en-US" sz="10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334155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Isi file / kertas, lalu kirim</a:t>
                      </a:r>
                      <a:endParaRPr lang="en-US" sz="10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334155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HP/QR, tanpa login, label ID + English</a:t>
                      </a:r>
                      <a:endParaRPr lang="en-US" sz="10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334155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Identitas pelapor</a:t>
                      </a:r>
                      <a:endParaRPr lang="en-US" sz="10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334155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Ketik manual, sering tidak lengkap</a:t>
                      </a:r>
                      <a:endParaRPr lang="en-US" sz="10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334155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Nama BACT autocomplete + ID otomatis</a:t>
                      </a:r>
                      <a:endParaRPr lang="en-US" sz="10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334155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Bukti</a:t>
                      </a:r>
                      <a:endParaRPr lang="en-US" sz="10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334155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Foto di chat, terpisah dari data</a:t>
                      </a:r>
                      <a:endParaRPr lang="en-US" sz="10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334155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Foto + lokasi tersimpan satu laporan</a:t>
                      </a:r>
                      <a:endParaRPr lang="en-US" sz="10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334155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Klasifikasi HSE</a:t>
                      </a:r>
                      <a:endParaRPr lang="en-US" sz="10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334155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Campur di kolom Excel</a:t>
                      </a:r>
                      <a:endParaRPr lang="en-US" sz="10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334155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HSE isi kategori &amp; risiko di dashboard</a:t>
                      </a:r>
                      <a:endParaRPr lang="en-US" sz="10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334155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Follow-up</a:t>
                      </a:r>
                      <a:endParaRPr lang="en-US" sz="10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334155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Sulit dilacak sampai closed</a:t>
                      </a:r>
                      <a:endParaRPr lang="en-US" sz="10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334155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Status, investigasi, CAPA, PDF Notice</a:t>
                      </a:r>
                      <a:endParaRPr lang="en-US" sz="10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334155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Analitik</a:t>
                      </a:r>
                      <a:endParaRPr lang="en-US" sz="10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334155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Pivot manual, lambat</a:t>
                      </a:r>
                      <a:endParaRPr lang="en-US" sz="10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334155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Weekly / Monthly report, import Excel, grafik</a:t>
                      </a:r>
                      <a:endParaRPr lang="en-US" sz="10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334155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Keamanan akses</a:t>
                      </a:r>
                      <a:endParaRPr lang="en-US" sz="10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334155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File bisa di-forward siapa saja</a:t>
                      </a:r>
                      <a:endParaRPr lang="en-US" sz="10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334155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Role Super Admin / HSE / Viewer</a:t>
                      </a:r>
                      <a:endParaRPr lang="en-US" sz="10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334155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Jejak perubahan</a:t>
                      </a:r>
                      <a:endParaRPr lang="en-US" sz="10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334155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Hampir tidak ada</a:t>
                      </a:r>
                      <a:endParaRPr lang="en-US" sz="10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334155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Audit log siapa mengubah laporan</a:t>
                      </a:r>
                      <a:endParaRPr lang="en-US" sz="10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04672"/>
          </a:xfrm>
          <a:prstGeom prst="rect">
            <a:avLst/>
          </a:prstGeom>
          <a:solidFill>
            <a:srgbClr val="1A1A1A"/>
          </a:solidFill>
          <a:ln/>
        </p:spPr>
      </p:sp>
      <p:pic>
        <p:nvPicPr>
          <p:cNvPr id="3" name="Image 0" descr="C:\Users\pc\Projects\safety-observation-card\public\logo\BACT Logo_OG White Tex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56032" y="128016"/>
            <a:ext cx="1325880" cy="53035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691640" y="128016"/>
            <a:ext cx="70408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3702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Aplikasi sudah dibangun</a:t>
            </a:r>
            <a:endParaRPr lang="en-US" sz="2000" dirty="0"/>
          </a:p>
        </p:txBody>
      </p:sp>
      <p:sp>
        <p:nvSpPr>
          <p:cNvPr id="5" name="Text 2"/>
          <p:cNvSpPr/>
          <p:nvPr/>
        </p:nvSpPr>
        <p:spPr>
          <a:xfrm>
            <a:off x="1691640" y="457200"/>
            <a:ext cx="70408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Bukan konsep — sudah live di web</a:t>
            </a:r>
            <a:endParaRPr lang="en-US" sz="1100" dirty="0"/>
          </a:p>
        </p:txBody>
      </p:sp>
      <p:sp>
        <p:nvSpPr>
          <p:cNvPr id="6" name="Shape 3"/>
          <p:cNvSpPr/>
          <p:nvPr/>
        </p:nvSpPr>
        <p:spPr>
          <a:xfrm>
            <a:off x="0" y="804672"/>
            <a:ext cx="9144000" cy="32004"/>
          </a:xfrm>
          <a:prstGeom prst="rect">
            <a:avLst/>
          </a:prstGeom>
          <a:solidFill>
            <a:srgbClr val="F37021"/>
          </a:solidFill>
          <a:ln/>
        </p:spPr>
      </p:sp>
      <p:sp>
        <p:nvSpPr>
          <p:cNvPr id="7" name="Text 4"/>
          <p:cNvSpPr/>
          <p:nvPr/>
        </p:nvSpPr>
        <p:spPr>
          <a:xfrm>
            <a:off x="365760" y="4709160"/>
            <a:ext cx="84124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PT. BACT · Pengajuan Hosting &amp; Domain SOC · September 2026</a:t>
            </a:r>
            <a:endParaRPr lang="en-US" sz="800" dirty="0"/>
          </a:p>
        </p:txBody>
      </p:sp>
      <p:sp>
        <p:nvSpPr>
          <p:cNvPr id="8" name="Shape 5"/>
          <p:cNvSpPr/>
          <p:nvPr/>
        </p:nvSpPr>
        <p:spPr>
          <a:xfrm>
            <a:off x="292608" y="1051560"/>
            <a:ext cx="2084832" cy="2148840"/>
          </a:xfrm>
          <a:prstGeom prst="roundRect">
            <a:avLst>
              <a:gd name="adj" fmla="val 3509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402336" y="1179576"/>
            <a:ext cx="256032" cy="256032"/>
          </a:xfrm>
          <a:prstGeom prst="roundRect">
            <a:avLst>
              <a:gd name="adj" fmla="val 17857"/>
            </a:avLst>
          </a:prstGeom>
          <a:solidFill>
            <a:srgbClr val="F37021"/>
          </a:solidFill>
          <a:ln/>
        </p:spPr>
      </p:sp>
      <p:sp>
        <p:nvSpPr>
          <p:cNvPr id="10" name="Text 7"/>
          <p:cNvSpPr/>
          <p:nvPr/>
        </p:nvSpPr>
        <p:spPr>
          <a:xfrm>
            <a:off x="749808" y="1143000"/>
            <a:ext cx="1517904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1A1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Form pelapor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420624" y="1490472"/>
            <a:ext cx="1828800" cy="161848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Label bilingual. Perusahaan, nama, departemen, tanggal, lokasi, deskripsi, Stop Work, foto. Tanpa login.</a:t>
            </a:r>
            <a:endParaRPr lang="en-US" sz="1100" dirty="0"/>
          </a:p>
        </p:txBody>
      </p:sp>
      <p:sp>
        <p:nvSpPr>
          <p:cNvPr id="12" name="Shape 9"/>
          <p:cNvSpPr/>
          <p:nvPr/>
        </p:nvSpPr>
        <p:spPr>
          <a:xfrm>
            <a:off x="2487168" y="1051560"/>
            <a:ext cx="2084832" cy="2148840"/>
          </a:xfrm>
          <a:prstGeom prst="roundRect">
            <a:avLst>
              <a:gd name="adj" fmla="val 3509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2596896" y="1179576"/>
            <a:ext cx="256032" cy="256032"/>
          </a:xfrm>
          <a:prstGeom prst="roundRect">
            <a:avLst>
              <a:gd name="adj" fmla="val 17857"/>
            </a:avLst>
          </a:prstGeom>
          <a:solidFill>
            <a:srgbClr val="3B82F6"/>
          </a:solidFill>
          <a:ln/>
        </p:spPr>
      </p:sp>
      <p:sp>
        <p:nvSpPr>
          <p:cNvPr id="14" name="Text 11"/>
          <p:cNvSpPr/>
          <p:nvPr/>
        </p:nvSpPr>
        <p:spPr>
          <a:xfrm>
            <a:off x="2944368" y="1143000"/>
            <a:ext cx="1517904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1A1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Command Center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2615184" y="1490472"/>
            <a:ext cx="1828800" cy="161848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UI English, dark/light. Antrian, klasifikasi HSE, investigasi, PDF Notice, notifikasi Resend.</a:t>
            </a:r>
            <a:endParaRPr lang="en-US" sz="1100" dirty="0"/>
          </a:p>
        </p:txBody>
      </p:sp>
      <p:sp>
        <p:nvSpPr>
          <p:cNvPr id="16" name="Shape 13"/>
          <p:cNvSpPr/>
          <p:nvPr/>
        </p:nvSpPr>
        <p:spPr>
          <a:xfrm>
            <a:off x="4681728" y="1051560"/>
            <a:ext cx="2084832" cy="2148840"/>
          </a:xfrm>
          <a:prstGeom prst="roundRect">
            <a:avLst>
              <a:gd name="adj" fmla="val 3509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4791456" y="1179576"/>
            <a:ext cx="256032" cy="256032"/>
          </a:xfrm>
          <a:prstGeom prst="roundRect">
            <a:avLst>
              <a:gd name="adj" fmla="val 17857"/>
            </a:avLst>
          </a:prstGeom>
          <a:solidFill>
            <a:srgbClr val="10B981"/>
          </a:solidFill>
          <a:ln/>
        </p:spPr>
      </p:sp>
      <p:sp>
        <p:nvSpPr>
          <p:cNvPr id="18" name="Text 15"/>
          <p:cNvSpPr/>
          <p:nvPr/>
        </p:nvSpPr>
        <p:spPr>
          <a:xfrm>
            <a:off x="5138928" y="1143000"/>
            <a:ext cx="1517904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1A1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Analitik &amp; log</a:t>
            </a:r>
            <a:endParaRPr lang="en-US" sz="1200" dirty="0"/>
          </a:p>
        </p:txBody>
      </p:sp>
      <p:sp>
        <p:nvSpPr>
          <p:cNvPr id="19" name="Text 16"/>
          <p:cNvSpPr/>
          <p:nvPr/>
        </p:nvSpPr>
        <p:spPr>
          <a:xfrm>
            <a:off x="4809744" y="1490472"/>
            <a:ext cx="1828800" cy="161848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Weekly/Monthly report (From–To), import Excel/CSV historis, export, Log HSE Super Admin.</a:t>
            </a:r>
            <a:endParaRPr lang="en-US" sz="1100" dirty="0"/>
          </a:p>
        </p:txBody>
      </p:sp>
      <p:sp>
        <p:nvSpPr>
          <p:cNvPr id="20" name="Shape 17"/>
          <p:cNvSpPr/>
          <p:nvPr/>
        </p:nvSpPr>
        <p:spPr>
          <a:xfrm>
            <a:off x="6876288" y="1051560"/>
            <a:ext cx="2084832" cy="2148840"/>
          </a:xfrm>
          <a:prstGeom prst="roundRect">
            <a:avLst>
              <a:gd name="adj" fmla="val 3509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>
            <a:off x="6986016" y="1179576"/>
            <a:ext cx="256032" cy="256032"/>
          </a:xfrm>
          <a:prstGeom prst="roundRect">
            <a:avLst>
              <a:gd name="adj" fmla="val 17857"/>
            </a:avLst>
          </a:prstGeom>
          <a:solidFill>
            <a:srgbClr val="8B5CF6"/>
          </a:solidFill>
          <a:ln/>
        </p:spPr>
      </p:sp>
      <p:sp>
        <p:nvSpPr>
          <p:cNvPr id="22" name="Text 19"/>
          <p:cNvSpPr/>
          <p:nvPr/>
        </p:nvSpPr>
        <p:spPr>
          <a:xfrm>
            <a:off x="7333488" y="1143000"/>
            <a:ext cx="1517904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1A1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Role akun</a:t>
            </a:r>
            <a:endParaRPr lang="en-US" sz="1200" dirty="0"/>
          </a:p>
        </p:txBody>
      </p:sp>
      <p:sp>
        <p:nvSpPr>
          <p:cNvPr id="23" name="Text 20"/>
          <p:cNvSpPr/>
          <p:nvPr/>
        </p:nvSpPr>
        <p:spPr>
          <a:xfrm>
            <a:off x="7004304" y="1490472"/>
            <a:ext cx="1828800" cy="161848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Super Admin, HSE Officer, Viewer. PIC = assign di laporan, bukan role login.</a:t>
            </a:r>
            <a:endParaRPr lang="en-US" sz="1100" dirty="0"/>
          </a:p>
        </p:txBody>
      </p:sp>
      <p:sp>
        <p:nvSpPr>
          <p:cNvPr id="24" name="Text 21"/>
          <p:cNvSpPr/>
          <p:nvPr/>
        </p:nvSpPr>
        <p:spPr>
          <a:xfrm>
            <a:off x="365760" y="3383280"/>
            <a:ext cx="841248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Live sekarang: bact-safety-observation-modern.vercel.app  ·  Admin: /admin/login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Pengajuan ini supaya alamatnya resmi (domain BACT), file web di Hostinger, database tetap Supabase, kirim email tetap Resend.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04672"/>
          </a:xfrm>
          <a:prstGeom prst="rect">
            <a:avLst/>
          </a:prstGeom>
          <a:solidFill>
            <a:srgbClr val="1A1A1A"/>
          </a:solidFill>
          <a:ln/>
        </p:spPr>
      </p:sp>
      <p:pic>
        <p:nvPicPr>
          <p:cNvPr id="3" name="Image 0" descr="C:\Users\pc\Projects\safety-observation-card\public\logo\BACT Logo_OG White Tex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56032" y="128016"/>
            <a:ext cx="1325880" cy="53035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691640" y="128016"/>
            <a:ext cx="70408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3702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Mengapa perlu hosting &amp; domain resmi</a:t>
            </a:r>
            <a:endParaRPr lang="en-US" sz="2000" dirty="0"/>
          </a:p>
        </p:txBody>
      </p:sp>
      <p:sp>
        <p:nvSpPr>
          <p:cNvPr id="5" name="Text 2"/>
          <p:cNvSpPr/>
          <p:nvPr/>
        </p:nvSpPr>
        <p:spPr>
          <a:xfrm>
            <a:off x="1691640" y="457200"/>
            <a:ext cx="70408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Uji coba boleh di subdomain. Operasional HSE butuh alamat perusahaan.</a:t>
            </a:r>
            <a:endParaRPr lang="en-US" sz="1100" dirty="0"/>
          </a:p>
        </p:txBody>
      </p:sp>
      <p:sp>
        <p:nvSpPr>
          <p:cNvPr id="6" name="Shape 3"/>
          <p:cNvSpPr/>
          <p:nvPr/>
        </p:nvSpPr>
        <p:spPr>
          <a:xfrm>
            <a:off x="0" y="804672"/>
            <a:ext cx="9144000" cy="32004"/>
          </a:xfrm>
          <a:prstGeom prst="rect">
            <a:avLst/>
          </a:prstGeom>
          <a:solidFill>
            <a:srgbClr val="F37021"/>
          </a:solidFill>
          <a:ln/>
        </p:spPr>
      </p:sp>
      <p:sp>
        <p:nvSpPr>
          <p:cNvPr id="7" name="Text 4"/>
          <p:cNvSpPr/>
          <p:nvPr/>
        </p:nvSpPr>
        <p:spPr>
          <a:xfrm>
            <a:off x="365760" y="4709160"/>
            <a:ext cx="84124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PT. BACT · Pengajuan Hosting &amp; Domain SOC · September 2026</a:t>
            </a:r>
            <a:endParaRPr lang="en-US" sz="800" dirty="0"/>
          </a:p>
        </p:txBody>
      </p:sp>
      <p:sp>
        <p:nvSpPr>
          <p:cNvPr id="8" name="Shape 5"/>
          <p:cNvSpPr/>
          <p:nvPr/>
        </p:nvSpPr>
        <p:spPr>
          <a:xfrm>
            <a:off x="292608" y="1051560"/>
            <a:ext cx="4114800" cy="1554480"/>
          </a:xfrm>
          <a:prstGeom prst="roundRect">
            <a:avLst>
              <a:gd name="adj" fmla="val 4706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402336" y="1179576"/>
            <a:ext cx="256032" cy="256032"/>
          </a:xfrm>
          <a:prstGeom prst="roundRect">
            <a:avLst>
              <a:gd name="adj" fmla="val 17857"/>
            </a:avLst>
          </a:prstGeom>
          <a:solidFill>
            <a:srgbClr val="3B82F6"/>
          </a:solidFill>
          <a:ln/>
        </p:spPr>
      </p:sp>
      <p:sp>
        <p:nvSpPr>
          <p:cNvPr id="10" name="Text 7"/>
          <p:cNvSpPr/>
          <p:nvPr/>
        </p:nvSpPr>
        <p:spPr>
          <a:xfrm>
            <a:off x="749808" y="1143000"/>
            <a:ext cx="3547872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1A1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Kredibel di lapangan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420624" y="1490472"/>
            <a:ext cx="3858768" cy="102412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QR dan surat Notice lebih dipercaya jika domain-nya BACT, bukan alamat uji coba Vercel.</a:t>
            </a:r>
            <a:endParaRPr lang="en-US" sz="1100" dirty="0"/>
          </a:p>
        </p:txBody>
      </p:sp>
      <p:sp>
        <p:nvSpPr>
          <p:cNvPr id="12" name="Shape 9"/>
          <p:cNvSpPr/>
          <p:nvPr/>
        </p:nvSpPr>
        <p:spPr>
          <a:xfrm>
            <a:off x="4590288" y="1051560"/>
            <a:ext cx="4114800" cy="1554480"/>
          </a:xfrm>
          <a:prstGeom prst="roundRect">
            <a:avLst>
              <a:gd name="adj" fmla="val 4706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4700016" y="1179576"/>
            <a:ext cx="256032" cy="256032"/>
          </a:xfrm>
          <a:prstGeom prst="roundRect">
            <a:avLst>
              <a:gd name="adj" fmla="val 17857"/>
            </a:avLst>
          </a:prstGeom>
          <a:solidFill>
            <a:srgbClr val="3B82F6"/>
          </a:solidFill>
          <a:ln/>
        </p:spPr>
      </p:sp>
      <p:sp>
        <p:nvSpPr>
          <p:cNvPr id="14" name="Text 11"/>
          <p:cNvSpPr/>
          <p:nvPr/>
        </p:nvSpPr>
        <p:spPr>
          <a:xfrm>
            <a:off x="5047488" y="1143000"/>
            <a:ext cx="3547872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1A1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Mailbox untuk menerima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4718304" y="1490472"/>
            <a:ext cx="3858768" cy="102412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Paket termasuk mailbox (gratis 1 tahun) — kotak masuk HSE/IT. Bukan untuk kirim notifikasi otomatis.</a:t>
            </a:r>
            <a:endParaRPr lang="en-US" sz="1100" dirty="0"/>
          </a:p>
        </p:txBody>
      </p:sp>
      <p:sp>
        <p:nvSpPr>
          <p:cNvPr id="16" name="Shape 13"/>
          <p:cNvSpPr/>
          <p:nvPr/>
        </p:nvSpPr>
        <p:spPr>
          <a:xfrm>
            <a:off x="292608" y="2743200"/>
            <a:ext cx="4114800" cy="1554480"/>
          </a:xfrm>
          <a:prstGeom prst="roundRect">
            <a:avLst>
              <a:gd name="adj" fmla="val 4706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402336" y="2871216"/>
            <a:ext cx="256032" cy="256032"/>
          </a:xfrm>
          <a:prstGeom prst="roundRect">
            <a:avLst>
              <a:gd name="adj" fmla="val 17857"/>
            </a:avLst>
          </a:prstGeom>
          <a:solidFill>
            <a:srgbClr val="3B82F6"/>
          </a:solidFill>
          <a:ln/>
        </p:spPr>
      </p:sp>
      <p:sp>
        <p:nvSpPr>
          <p:cNvPr id="18" name="Text 15"/>
          <p:cNvSpPr/>
          <p:nvPr/>
        </p:nvSpPr>
        <p:spPr>
          <a:xfrm>
            <a:off x="749808" y="2834640"/>
            <a:ext cx="3547872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1A1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Backup file &amp; SSL</a:t>
            </a:r>
            <a:endParaRPr lang="en-US" sz="1200" dirty="0"/>
          </a:p>
        </p:txBody>
      </p:sp>
      <p:sp>
        <p:nvSpPr>
          <p:cNvPr id="19" name="Text 16"/>
          <p:cNvSpPr/>
          <p:nvPr/>
        </p:nvSpPr>
        <p:spPr>
          <a:xfrm>
            <a:off x="420624" y="3182112"/>
            <a:ext cx="3858768" cy="102412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HTTPS otomatis + backup harian file website. Kalau laptop rusak, file web tidak ikut hilang.</a:t>
            </a:r>
            <a:endParaRPr lang="en-US" sz="1100" dirty="0"/>
          </a:p>
        </p:txBody>
      </p:sp>
      <p:sp>
        <p:nvSpPr>
          <p:cNvPr id="20" name="Shape 17"/>
          <p:cNvSpPr/>
          <p:nvPr/>
        </p:nvSpPr>
        <p:spPr>
          <a:xfrm>
            <a:off x="4590288" y="2743200"/>
            <a:ext cx="4114800" cy="1554480"/>
          </a:xfrm>
          <a:prstGeom prst="roundRect">
            <a:avLst>
              <a:gd name="adj" fmla="val 4706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>
            <a:off x="4700016" y="2871216"/>
            <a:ext cx="256032" cy="256032"/>
          </a:xfrm>
          <a:prstGeom prst="roundRect">
            <a:avLst>
              <a:gd name="adj" fmla="val 17857"/>
            </a:avLst>
          </a:prstGeom>
          <a:solidFill>
            <a:srgbClr val="3B82F6"/>
          </a:solidFill>
          <a:ln/>
        </p:spPr>
      </p:sp>
      <p:sp>
        <p:nvSpPr>
          <p:cNvPr id="22" name="Text 19"/>
          <p:cNvSpPr/>
          <p:nvPr/>
        </p:nvSpPr>
        <p:spPr>
          <a:xfrm>
            <a:off x="5047488" y="2834640"/>
            <a:ext cx="3547872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1A1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Kontrol IT</a:t>
            </a:r>
            <a:endParaRPr lang="en-US" sz="1200" dirty="0"/>
          </a:p>
        </p:txBody>
      </p:sp>
      <p:sp>
        <p:nvSpPr>
          <p:cNvPr id="23" name="Text 20"/>
          <p:cNvSpPr/>
          <p:nvPr/>
        </p:nvSpPr>
        <p:spPr>
          <a:xfrm>
            <a:off x="4718304" y="3182112"/>
            <a:ext cx="3858768" cy="102412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Panel hosting, perpanjang domain, dan akses akun ada di tangan perusahaan.</a:t>
            </a:r>
            <a:endParaRPr lang="en-US" sz="11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04672"/>
          </a:xfrm>
          <a:prstGeom prst="rect">
            <a:avLst/>
          </a:prstGeom>
          <a:solidFill>
            <a:srgbClr val="1A1A1A"/>
          </a:solidFill>
          <a:ln/>
        </p:spPr>
      </p:sp>
      <p:pic>
        <p:nvPicPr>
          <p:cNvPr id="3" name="Image 0" descr="C:\Users\pc\Projects\safety-observation-card\public\logo\BACT Logo_OG White Tex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56032" y="128016"/>
            <a:ext cx="1325880" cy="53035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691640" y="128016"/>
            <a:ext cx="70408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3702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Paket usulan: Hostinger Unlimited</a:t>
            </a:r>
            <a:endParaRPr lang="en-US" sz="2000" dirty="0"/>
          </a:p>
        </p:txBody>
      </p:sp>
      <p:sp>
        <p:nvSpPr>
          <p:cNvPr id="5" name="Text 2"/>
          <p:cNvSpPr/>
          <p:nvPr/>
        </p:nvSpPr>
        <p:spPr>
          <a:xfrm>
            <a:off x="1691640" y="457200"/>
            <a:ext cx="70408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Harga halaman resmi + keranjang 48 bulan (promo September 2026)</a:t>
            </a:r>
            <a:endParaRPr lang="en-US" sz="1100" dirty="0"/>
          </a:p>
        </p:txBody>
      </p:sp>
      <p:sp>
        <p:nvSpPr>
          <p:cNvPr id="6" name="Shape 3"/>
          <p:cNvSpPr/>
          <p:nvPr/>
        </p:nvSpPr>
        <p:spPr>
          <a:xfrm>
            <a:off x="0" y="804672"/>
            <a:ext cx="9144000" cy="32004"/>
          </a:xfrm>
          <a:prstGeom prst="rect">
            <a:avLst/>
          </a:prstGeom>
          <a:solidFill>
            <a:srgbClr val="F37021"/>
          </a:solidFill>
          <a:ln/>
        </p:spPr>
      </p:sp>
      <p:sp>
        <p:nvSpPr>
          <p:cNvPr id="7" name="Text 4"/>
          <p:cNvSpPr/>
          <p:nvPr/>
        </p:nvSpPr>
        <p:spPr>
          <a:xfrm>
            <a:off x="365760" y="4709160"/>
            <a:ext cx="84124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PT. BACT · Pengajuan Hosting &amp; Domain SOC · September 2026</a:t>
            </a:r>
            <a:endParaRPr lang="en-US" sz="800" dirty="0"/>
          </a:p>
        </p:txBody>
      </p:sp>
      <p:sp>
        <p:nvSpPr>
          <p:cNvPr id="8" name="Shape 5"/>
          <p:cNvSpPr/>
          <p:nvPr/>
        </p:nvSpPr>
        <p:spPr>
          <a:xfrm>
            <a:off x="292608" y="1024128"/>
            <a:ext cx="2761488" cy="1572768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402336" y="1152144"/>
            <a:ext cx="256032" cy="256032"/>
          </a:xfrm>
          <a:prstGeom prst="roundRect">
            <a:avLst>
              <a:gd name="adj" fmla="val 17857"/>
            </a:avLst>
          </a:prstGeom>
          <a:solidFill>
            <a:srgbClr val="F37021"/>
          </a:solidFill>
          <a:ln/>
        </p:spPr>
      </p:sp>
      <p:sp>
        <p:nvSpPr>
          <p:cNvPr id="10" name="Text 7"/>
          <p:cNvSpPr/>
          <p:nvPr/>
        </p:nvSpPr>
        <p:spPr>
          <a:xfrm>
            <a:off x="749808" y="1115568"/>
            <a:ext cx="21945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1A1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Rp38.900 / bulan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420624" y="1463040"/>
            <a:ext cx="2505456" cy="104241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Promo (normal Rp129.900/bln). Kunci 48 bulan. Hosting saja Rp1.867.200.</a:t>
            </a:r>
            <a:endParaRPr lang="en-US" sz="1100" dirty="0"/>
          </a:p>
        </p:txBody>
      </p:sp>
      <p:sp>
        <p:nvSpPr>
          <p:cNvPr id="12" name="Shape 9"/>
          <p:cNvSpPr/>
          <p:nvPr/>
        </p:nvSpPr>
        <p:spPr>
          <a:xfrm>
            <a:off x="3172968" y="1024128"/>
            <a:ext cx="2761488" cy="1572768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3282696" y="1152144"/>
            <a:ext cx="256032" cy="256032"/>
          </a:xfrm>
          <a:prstGeom prst="roundRect">
            <a:avLst>
              <a:gd name="adj" fmla="val 17857"/>
            </a:avLst>
          </a:prstGeom>
          <a:solidFill>
            <a:srgbClr val="10B981"/>
          </a:solidFill>
          <a:ln/>
        </p:spPr>
      </p:sp>
      <p:sp>
        <p:nvSpPr>
          <p:cNvPr id="14" name="Text 11"/>
          <p:cNvSpPr/>
          <p:nvPr/>
        </p:nvSpPr>
        <p:spPr>
          <a:xfrm>
            <a:off x="3630168" y="1115568"/>
            <a:ext cx="21945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1A1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48 bulan + pajak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3300984" y="1463040"/>
            <a:ext cx="2505456" cy="104241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Pajak keranjang Rp205.392. Total bayar sekarang Rp2.072.592.</a:t>
            </a:r>
            <a:endParaRPr lang="en-US" sz="1100" dirty="0"/>
          </a:p>
        </p:txBody>
      </p:sp>
      <p:sp>
        <p:nvSpPr>
          <p:cNvPr id="16" name="Shape 13"/>
          <p:cNvSpPr/>
          <p:nvPr/>
        </p:nvSpPr>
        <p:spPr>
          <a:xfrm>
            <a:off x="6053328" y="1024128"/>
            <a:ext cx="2761488" cy="1572768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6163056" y="1152144"/>
            <a:ext cx="256032" cy="256032"/>
          </a:xfrm>
          <a:prstGeom prst="roundRect">
            <a:avLst>
              <a:gd name="adj" fmla="val 17857"/>
            </a:avLst>
          </a:prstGeom>
          <a:solidFill>
            <a:srgbClr val="10B981"/>
          </a:solidFill>
          <a:ln/>
        </p:spPr>
      </p:sp>
      <p:sp>
        <p:nvSpPr>
          <p:cNvPr id="18" name="Text 15"/>
          <p:cNvSpPr/>
          <p:nvPr/>
        </p:nvSpPr>
        <p:spPr>
          <a:xfrm>
            <a:off x="6510528" y="1115568"/>
            <a:ext cx="21945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1A1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Domain gratis 1 th</a:t>
            </a:r>
            <a:endParaRPr lang="en-US" sz="1200" dirty="0"/>
          </a:p>
        </p:txBody>
      </p:sp>
      <p:sp>
        <p:nvSpPr>
          <p:cNvPr id="19" name="Text 16"/>
          <p:cNvSpPr/>
          <p:nvPr/>
        </p:nvSpPr>
        <p:spPr>
          <a:xfrm>
            <a:off x="6181344" y="1463040"/>
            <a:ext cx="2505456" cy="104241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.com / .net / .org, dll. Tahun berikutnya berbayar (lihat slide domain).</a:t>
            </a:r>
            <a:endParaRPr lang="en-US" sz="1100" dirty="0"/>
          </a:p>
        </p:txBody>
      </p:sp>
      <p:sp>
        <p:nvSpPr>
          <p:cNvPr id="20" name="Shape 17"/>
          <p:cNvSpPr/>
          <p:nvPr/>
        </p:nvSpPr>
        <p:spPr>
          <a:xfrm>
            <a:off x="292608" y="2715768"/>
            <a:ext cx="2761488" cy="1572768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>
            <a:off x="402336" y="2843784"/>
            <a:ext cx="256032" cy="256032"/>
          </a:xfrm>
          <a:prstGeom prst="roundRect">
            <a:avLst>
              <a:gd name="adj" fmla="val 17857"/>
            </a:avLst>
          </a:prstGeom>
          <a:solidFill>
            <a:srgbClr val="10B981"/>
          </a:solidFill>
          <a:ln/>
        </p:spPr>
      </p:sp>
      <p:sp>
        <p:nvSpPr>
          <p:cNvPr id="22" name="Text 19"/>
          <p:cNvSpPr/>
          <p:nvPr/>
        </p:nvSpPr>
        <p:spPr>
          <a:xfrm>
            <a:off x="749808" y="2807208"/>
            <a:ext cx="21945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1A1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 GB NVMe</a:t>
            </a:r>
            <a:endParaRPr lang="en-US" sz="1200" dirty="0"/>
          </a:p>
        </p:txBody>
      </p:sp>
      <p:sp>
        <p:nvSpPr>
          <p:cNvPr id="23" name="Text 20"/>
          <p:cNvSpPr/>
          <p:nvPr/>
        </p:nvSpPr>
        <p:spPr>
          <a:xfrm>
            <a:off x="420624" y="3154680"/>
            <a:ext cx="2505456" cy="104241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Untuk file website SOC + beberapa situs internal. Bukan database laporan.</a:t>
            </a:r>
            <a:endParaRPr lang="en-US" sz="1100" dirty="0"/>
          </a:p>
        </p:txBody>
      </p:sp>
      <p:sp>
        <p:nvSpPr>
          <p:cNvPr id="24" name="Shape 21"/>
          <p:cNvSpPr/>
          <p:nvPr/>
        </p:nvSpPr>
        <p:spPr>
          <a:xfrm>
            <a:off x="3172968" y="2715768"/>
            <a:ext cx="2761488" cy="1572768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5" name="Shape 22"/>
          <p:cNvSpPr/>
          <p:nvPr/>
        </p:nvSpPr>
        <p:spPr>
          <a:xfrm>
            <a:off x="3282696" y="2843784"/>
            <a:ext cx="256032" cy="256032"/>
          </a:xfrm>
          <a:prstGeom prst="roundRect">
            <a:avLst>
              <a:gd name="adj" fmla="val 17857"/>
            </a:avLst>
          </a:prstGeom>
          <a:solidFill>
            <a:srgbClr val="10B981"/>
          </a:solidFill>
          <a:ln/>
        </p:spPr>
      </p:sp>
      <p:sp>
        <p:nvSpPr>
          <p:cNvPr id="26" name="Text 23"/>
          <p:cNvSpPr/>
          <p:nvPr/>
        </p:nvSpPr>
        <p:spPr>
          <a:xfrm>
            <a:off x="3630168" y="2807208"/>
            <a:ext cx="21945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1A1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Backup harian</a:t>
            </a:r>
            <a:endParaRPr lang="en-US" sz="1200" dirty="0"/>
          </a:p>
        </p:txBody>
      </p:sp>
      <p:sp>
        <p:nvSpPr>
          <p:cNvPr id="27" name="Text 24"/>
          <p:cNvSpPr/>
          <p:nvPr/>
        </p:nvSpPr>
        <p:spPr>
          <a:xfrm>
            <a:off x="3300984" y="3154680"/>
            <a:ext cx="2505456" cy="104241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Restore file web dari panel. Masuk promo keranjang (nilai normal ± Rp771 rb).</a:t>
            </a:r>
            <a:endParaRPr lang="en-US" sz="1100" dirty="0"/>
          </a:p>
        </p:txBody>
      </p:sp>
      <p:sp>
        <p:nvSpPr>
          <p:cNvPr id="28" name="Shape 25"/>
          <p:cNvSpPr/>
          <p:nvPr/>
        </p:nvSpPr>
        <p:spPr>
          <a:xfrm>
            <a:off x="6053328" y="2715768"/>
            <a:ext cx="2761488" cy="1572768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Shape 26"/>
          <p:cNvSpPr/>
          <p:nvPr/>
        </p:nvSpPr>
        <p:spPr>
          <a:xfrm>
            <a:off x="6163056" y="2843784"/>
            <a:ext cx="256032" cy="256032"/>
          </a:xfrm>
          <a:prstGeom prst="roundRect">
            <a:avLst>
              <a:gd name="adj" fmla="val 17857"/>
            </a:avLst>
          </a:prstGeom>
          <a:solidFill>
            <a:srgbClr val="10B981"/>
          </a:solidFill>
          <a:ln/>
        </p:spPr>
      </p:sp>
      <p:sp>
        <p:nvSpPr>
          <p:cNvPr id="30" name="Text 27"/>
          <p:cNvSpPr/>
          <p:nvPr/>
        </p:nvSpPr>
        <p:spPr>
          <a:xfrm>
            <a:off x="6510528" y="2807208"/>
            <a:ext cx="21945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1A1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SSL + mailbox terima</a:t>
            </a:r>
            <a:endParaRPr lang="en-US" sz="1200" dirty="0"/>
          </a:p>
        </p:txBody>
      </p:sp>
      <p:sp>
        <p:nvSpPr>
          <p:cNvPr id="31" name="Text 28"/>
          <p:cNvSpPr/>
          <p:nvPr/>
        </p:nvSpPr>
        <p:spPr>
          <a:xfrm>
            <a:off x="6181344" y="3154680"/>
            <a:ext cx="2505456" cy="104241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SSL otomatis. Mailbox unlimited per website, gratis 1 tahun — untuk baca email.</a:t>
            </a:r>
            <a:endParaRPr lang="en-US" sz="11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04672"/>
          </a:xfrm>
          <a:prstGeom prst="rect">
            <a:avLst/>
          </a:prstGeom>
          <a:solidFill>
            <a:srgbClr val="1A1A1A"/>
          </a:solidFill>
          <a:ln/>
        </p:spPr>
      </p:sp>
      <p:pic>
        <p:nvPicPr>
          <p:cNvPr id="3" name="Image 0" descr="C:\Users\pc\Projects\safety-observation-card\public\logo\BACT Logo_OG White Tex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56032" y="128016"/>
            <a:ext cx="1325880" cy="53035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691640" y="128016"/>
            <a:ext cx="70408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3702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Kelebihan Hostinger</a:t>
            </a:r>
            <a:endParaRPr lang="en-US" sz="2000" dirty="0"/>
          </a:p>
        </p:txBody>
      </p:sp>
      <p:sp>
        <p:nvSpPr>
          <p:cNvPr id="5" name="Text 2"/>
          <p:cNvSpPr/>
          <p:nvPr/>
        </p:nvSpPr>
        <p:spPr>
          <a:xfrm>
            <a:off x="1691640" y="457200"/>
            <a:ext cx="70408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Mengapa paket ini masuk akal untuk SOC BACT</a:t>
            </a:r>
            <a:endParaRPr lang="en-US" sz="1100" dirty="0"/>
          </a:p>
        </p:txBody>
      </p:sp>
      <p:sp>
        <p:nvSpPr>
          <p:cNvPr id="6" name="Shape 3"/>
          <p:cNvSpPr/>
          <p:nvPr/>
        </p:nvSpPr>
        <p:spPr>
          <a:xfrm>
            <a:off x="0" y="804672"/>
            <a:ext cx="9144000" cy="32004"/>
          </a:xfrm>
          <a:prstGeom prst="rect">
            <a:avLst/>
          </a:prstGeom>
          <a:solidFill>
            <a:srgbClr val="F37021"/>
          </a:solidFill>
          <a:ln/>
        </p:spPr>
      </p:sp>
      <p:sp>
        <p:nvSpPr>
          <p:cNvPr id="7" name="Text 4"/>
          <p:cNvSpPr/>
          <p:nvPr/>
        </p:nvSpPr>
        <p:spPr>
          <a:xfrm>
            <a:off x="365760" y="4709160"/>
            <a:ext cx="84124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PT. BACT · Pengajuan Hosting &amp; Domain SOC · September 2026</a:t>
            </a:r>
            <a:endParaRPr lang="en-US" sz="800" dirty="0"/>
          </a:p>
        </p:txBody>
      </p:sp>
      <p:sp>
        <p:nvSpPr>
          <p:cNvPr id="8" name="Shape 5"/>
          <p:cNvSpPr/>
          <p:nvPr/>
        </p:nvSpPr>
        <p:spPr>
          <a:xfrm>
            <a:off x="292608" y="1024128"/>
            <a:ext cx="2761488" cy="1572768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402336" y="1152144"/>
            <a:ext cx="256032" cy="256032"/>
          </a:xfrm>
          <a:prstGeom prst="roundRect">
            <a:avLst>
              <a:gd name="adj" fmla="val 17857"/>
            </a:avLst>
          </a:prstGeom>
          <a:solidFill>
            <a:srgbClr val="10B981"/>
          </a:solidFill>
          <a:ln/>
        </p:spPr>
      </p:sp>
      <p:sp>
        <p:nvSpPr>
          <p:cNvPr id="10" name="Text 7"/>
          <p:cNvSpPr/>
          <p:nvPr/>
        </p:nvSpPr>
        <p:spPr>
          <a:xfrm>
            <a:off x="749808" y="1115568"/>
            <a:ext cx="21945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1A1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Harga promo jelas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420624" y="1463040"/>
            <a:ext cx="2505456" cy="104241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Checkout Rp2.072.592 untuk 4 tahun hosting (sudah pajak). Mudah diajukan di budget tahunan.</a:t>
            </a:r>
            <a:endParaRPr lang="en-US" sz="1100" dirty="0"/>
          </a:p>
        </p:txBody>
      </p:sp>
      <p:sp>
        <p:nvSpPr>
          <p:cNvPr id="12" name="Shape 9"/>
          <p:cNvSpPr/>
          <p:nvPr/>
        </p:nvSpPr>
        <p:spPr>
          <a:xfrm>
            <a:off x="3172968" y="1024128"/>
            <a:ext cx="2761488" cy="1572768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3282696" y="1152144"/>
            <a:ext cx="256032" cy="256032"/>
          </a:xfrm>
          <a:prstGeom prst="roundRect">
            <a:avLst>
              <a:gd name="adj" fmla="val 17857"/>
            </a:avLst>
          </a:prstGeom>
          <a:solidFill>
            <a:srgbClr val="10B981"/>
          </a:solidFill>
          <a:ln/>
        </p:spPr>
      </p:sp>
      <p:sp>
        <p:nvSpPr>
          <p:cNvPr id="14" name="Text 11"/>
          <p:cNvSpPr/>
          <p:nvPr/>
        </p:nvSpPr>
        <p:spPr>
          <a:xfrm>
            <a:off x="3630168" y="1115568"/>
            <a:ext cx="21945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1A1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Panel modern (hPanel)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3300984" y="1463040"/>
            <a:ext cx="2505456" cy="104241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Lebih sederhana dari cPanel klasik. Cocok dikelola IT + HSE tanpa jadi sysadmin penuh.</a:t>
            </a:r>
            <a:endParaRPr lang="en-US" sz="1100" dirty="0"/>
          </a:p>
        </p:txBody>
      </p:sp>
      <p:sp>
        <p:nvSpPr>
          <p:cNvPr id="16" name="Shape 13"/>
          <p:cNvSpPr/>
          <p:nvPr/>
        </p:nvSpPr>
        <p:spPr>
          <a:xfrm>
            <a:off x="6053328" y="1024128"/>
            <a:ext cx="2761488" cy="1572768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6163056" y="1152144"/>
            <a:ext cx="256032" cy="256032"/>
          </a:xfrm>
          <a:prstGeom prst="roundRect">
            <a:avLst>
              <a:gd name="adj" fmla="val 17857"/>
            </a:avLst>
          </a:prstGeom>
          <a:solidFill>
            <a:srgbClr val="10B981"/>
          </a:solidFill>
          <a:ln/>
        </p:spPr>
      </p:sp>
      <p:sp>
        <p:nvSpPr>
          <p:cNvPr id="18" name="Text 15"/>
          <p:cNvSpPr/>
          <p:nvPr/>
        </p:nvSpPr>
        <p:spPr>
          <a:xfrm>
            <a:off x="6510528" y="1115568"/>
            <a:ext cx="21945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1A1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Dukungan Node.js</a:t>
            </a:r>
            <a:endParaRPr lang="en-US" sz="1200" dirty="0"/>
          </a:p>
        </p:txBody>
      </p:sp>
      <p:sp>
        <p:nvSpPr>
          <p:cNvPr id="19" name="Text 16"/>
          <p:cNvSpPr/>
          <p:nvPr/>
        </p:nvSpPr>
        <p:spPr>
          <a:xfrm>
            <a:off x="6181344" y="1463040"/>
            <a:ext cx="2505456" cy="104241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Bukan hanya WordPress. Frontend SOC modern bisa di-deploy di paket ini.</a:t>
            </a:r>
            <a:endParaRPr lang="en-US" sz="1100" dirty="0"/>
          </a:p>
        </p:txBody>
      </p:sp>
      <p:sp>
        <p:nvSpPr>
          <p:cNvPr id="20" name="Shape 17"/>
          <p:cNvSpPr/>
          <p:nvPr/>
        </p:nvSpPr>
        <p:spPr>
          <a:xfrm>
            <a:off x="292608" y="2715768"/>
            <a:ext cx="2761488" cy="1572768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>
            <a:off x="402336" y="2843784"/>
            <a:ext cx="256032" cy="256032"/>
          </a:xfrm>
          <a:prstGeom prst="roundRect">
            <a:avLst>
              <a:gd name="adj" fmla="val 17857"/>
            </a:avLst>
          </a:prstGeom>
          <a:solidFill>
            <a:srgbClr val="10B981"/>
          </a:solidFill>
          <a:ln/>
        </p:spPr>
      </p:sp>
      <p:sp>
        <p:nvSpPr>
          <p:cNvPr id="22" name="Text 19"/>
          <p:cNvSpPr/>
          <p:nvPr/>
        </p:nvSpPr>
        <p:spPr>
          <a:xfrm>
            <a:off x="749808" y="2807208"/>
            <a:ext cx="21945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1A1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SSL &amp; CDN</a:t>
            </a:r>
            <a:endParaRPr lang="en-US" sz="1200" dirty="0"/>
          </a:p>
        </p:txBody>
      </p:sp>
      <p:sp>
        <p:nvSpPr>
          <p:cNvPr id="23" name="Text 20"/>
          <p:cNvSpPr/>
          <p:nvPr/>
        </p:nvSpPr>
        <p:spPr>
          <a:xfrm>
            <a:off x="420624" y="3154680"/>
            <a:ext cx="2505456" cy="104241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Sertifikat HTTPS otomatis, CDN, prioritas support 24/7 di paket Unlimited.</a:t>
            </a:r>
            <a:endParaRPr lang="en-US" sz="1100" dirty="0"/>
          </a:p>
        </p:txBody>
      </p:sp>
      <p:sp>
        <p:nvSpPr>
          <p:cNvPr id="24" name="Shape 21"/>
          <p:cNvSpPr/>
          <p:nvPr/>
        </p:nvSpPr>
        <p:spPr>
          <a:xfrm>
            <a:off x="3172968" y="2715768"/>
            <a:ext cx="2761488" cy="1572768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5" name="Shape 22"/>
          <p:cNvSpPr/>
          <p:nvPr/>
        </p:nvSpPr>
        <p:spPr>
          <a:xfrm>
            <a:off x="3282696" y="2843784"/>
            <a:ext cx="256032" cy="256032"/>
          </a:xfrm>
          <a:prstGeom prst="roundRect">
            <a:avLst>
              <a:gd name="adj" fmla="val 17857"/>
            </a:avLst>
          </a:prstGeom>
          <a:solidFill>
            <a:srgbClr val="10B981"/>
          </a:solidFill>
          <a:ln/>
        </p:spPr>
      </p:sp>
      <p:sp>
        <p:nvSpPr>
          <p:cNvPr id="26" name="Text 23"/>
          <p:cNvSpPr/>
          <p:nvPr/>
        </p:nvSpPr>
        <p:spPr>
          <a:xfrm>
            <a:off x="3630168" y="2807208"/>
            <a:ext cx="21945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1A1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Keamanan bawaan</a:t>
            </a:r>
            <a:endParaRPr lang="en-US" sz="1200" dirty="0"/>
          </a:p>
        </p:txBody>
      </p:sp>
      <p:sp>
        <p:nvSpPr>
          <p:cNvPr id="27" name="Text 24"/>
          <p:cNvSpPr/>
          <p:nvPr/>
        </p:nvSpPr>
        <p:spPr>
          <a:xfrm>
            <a:off x="3300984" y="3154680"/>
            <a:ext cx="2505456" cy="104241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WAF, filter DDoS, malware scanner, nameserver Cloudflare, ISO 27001 di sisi Hostinger.</a:t>
            </a:r>
            <a:endParaRPr lang="en-US" sz="1100" dirty="0"/>
          </a:p>
        </p:txBody>
      </p:sp>
      <p:sp>
        <p:nvSpPr>
          <p:cNvPr id="28" name="Shape 25"/>
          <p:cNvSpPr/>
          <p:nvPr/>
        </p:nvSpPr>
        <p:spPr>
          <a:xfrm>
            <a:off x="6053328" y="2715768"/>
            <a:ext cx="2761488" cy="1572768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Shape 26"/>
          <p:cNvSpPr/>
          <p:nvPr/>
        </p:nvSpPr>
        <p:spPr>
          <a:xfrm>
            <a:off x="6163056" y="2843784"/>
            <a:ext cx="256032" cy="256032"/>
          </a:xfrm>
          <a:prstGeom prst="roundRect">
            <a:avLst>
              <a:gd name="adj" fmla="val 17857"/>
            </a:avLst>
          </a:prstGeom>
          <a:solidFill>
            <a:srgbClr val="10B981"/>
          </a:solidFill>
          <a:ln/>
        </p:spPr>
      </p:sp>
      <p:sp>
        <p:nvSpPr>
          <p:cNvPr id="30" name="Text 27"/>
          <p:cNvSpPr/>
          <p:nvPr/>
        </p:nvSpPr>
        <p:spPr>
          <a:xfrm>
            <a:off x="6510528" y="2807208"/>
            <a:ext cx="21945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1A1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Garansi 30 hari</a:t>
            </a:r>
            <a:endParaRPr lang="en-US" sz="1200" dirty="0"/>
          </a:p>
        </p:txBody>
      </p:sp>
      <p:sp>
        <p:nvSpPr>
          <p:cNvPr id="31" name="Text 28"/>
          <p:cNvSpPr/>
          <p:nvPr/>
        </p:nvSpPr>
        <p:spPr>
          <a:xfrm>
            <a:off x="6181344" y="3154680"/>
            <a:ext cx="2505456" cy="104241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Bisa dibatalkan di awal jika tidak cocok. Perpanjangan hosting setelah 48 bulan: Rp121.900/bln.</a:t>
            </a:r>
            <a:endParaRPr lang="en-US" sz="11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04672"/>
          </a:xfrm>
          <a:prstGeom prst="rect">
            <a:avLst/>
          </a:prstGeom>
          <a:solidFill>
            <a:srgbClr val="1A1A1A"/>
          </a:solidFill>
          <a:ln/>
        </p:spPr>
      </p:sp>
      <p:pic>
        <p:nvPicPr>
          <p:cNvPr id="3" name="Image 0" descr="C:\Users\pc\Projects\safety-observation-card\public\logo\BACT Logo_OG White Tex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56032" y="128016"/>
            <a:ext cx="1325880" cy="53035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691640" y="128016"/>
            <a:ext cx="70408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3702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Keterbatasan Hostinger (perlu jujur)</a:t>
            </a:r>
            <a:endParaRPr lang="en-US" sz="2000" dirty="0"/>
          </a:p>
        </p:txBody>
      </p:sp>
      <p:sp>
        <p:nvSpPr>
          <p:cNvPr id="5" name="Text 2"/>
          <p:cNvSpPr/>
          <p:nvPr/>
        </p:nvSpPr>
        <p:spPr>
          <a:xfrm>
            <a:off x="1691640" y="457200"/>
            <a:ext cx="70408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Supaya keputusan tidak hanya lihat harga promo</a:t>
            </a:r>
            <a:endParaRPr lang="en-US" sz="1100" dirty="0"/>
          </a:p>
        </p:txBody>
      </p:sp>
      <p:sp>
        <p:nvSpPr>
          <p:cNvPr id="6" name="Shape 3"/>
          <p:cNvSpPr/>
          <p:nvPr/>
        </p:nvSpPr>
        <p:spPr>
          <a:xfrm>
            <a:off x="0" y="804672"/>
            <a:ext cx="9144000" cy="32004"/>
          </a:xfrm>
          <a:prstGeom prst="rect">
            <a:avLst/>
          </a:prstGeom>
          <a:solidFill>
            <a:srgbClr val="F37021"/>
          </a:solidFill>
          <a:ln/>
        </p:spPr>
      </p:sp>
      <p:sp>
        <p:nvSpPr>
          <p:cNvPr id="7" name="Text 4"/>
          <p:cNvSpPr/>
          <p:nvPr/>
        </p:nvSpPr>
        <p:spPr>
          <a:xfrm>
            <a:off x="365760" y="4709160"/>
            <a:ext cx="84124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PT. BACT · Pengajuan Hosting &amp; Domain SOC · September 2026</a:t>
            </a:r>
            <a:endParaRPr lang="en-US" sz="800" dirty="0"/>
          </a:p>
        </p:txBody>
      </p:sp>
      <p:sp>
        <p:nvSpPr>
          <p:cNvPr id="8" name="Shape 5"/>
          <p:cNvSpPr/>
          <p:nvPr/>
        </p:nvSpPr>
        <p:spPr>
          <a:xfrm>
            <a:off x="292608" y="1024128"/>
            <a:ext cx="2761488" cy="1572768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402336" y="1152144"/>
            <a:ext cx="256032" cy="256032"/>
          </a:xfrm>
          <a:prstGeom prst="roundRect">
            <a:avLst>
              <a:gd name="adj" fmla="val 17857"/>
            </a:avLst>
          </a:prstGeom>
          <a:solidFill>
            <a:srgbClr val="F59E0B"/>
          </a:solidFill>
          <a:ln/>
        </p:spPr>
      </p:sp>
      <p:sp>
        <p:nvSpPr>
          <p:cNvPr id="10" name="Text 7"/>
          <p:cNvSpPr/>
          <p:nvPr/>
        </p:nvSpPr>
        <p:spPr>
          <a:xfrm>
            <a:off x="749808" y="1115568"/>
            <a:ext cx="21945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1A1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Shared hosting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420624" y="1463040"/>
            <a:ext cx="2505456" cy="104241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Server dipakai bersama website lain. Cukup untuk SOC internal, tapi bukan VPS terisolasi kelas bank.</a:t>
            </a:r>
            <a:endParaRPr lang="en-US" sz="1100" dirty="0"/>
          </a:p>
        </p:txBody>
      </p:sp>
      <p:sp>
        <p:nvSpPr>
          <p:cNvPr id="12" name="Shape 9"/>
          <p:cNvSpPr/>
          <p:nvPr/>
        </p:nvSpPr>
        <p:spPr>
          <a:xfrm>
            <a:off x="3172968" y="1024128"/>
            <a:ext cx="2761488" cy="1572768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3282696" y="1152144"/>
            <a:ext cx="256032" cy="256032"/>
          </a:xfrm>
          <a:prstGeom prst="roundRect">
            <a:avLst>
              <a:gd name="adj" fmla="val 17857"/>
            </a:avLst>
          </a:prstGeom>
          <a:solidFill>
            <a:srgbClr val="F59E0B"/>
          </a:solidFill>
          <a:ln/>
        </p:spPr>
      </p:sp>
      <p:sp>
        <p:nvSpPr>
          <p:cNvPr id="14" name="Text 11"/>
          <p:cNvSpPr/>
          <p:nvPr/>
        </p:nvSpPr>
        <p:spPr>
          <a:xfrm>
            <a:off x="3630168" y="1115568"/>
            <a:ext cx="21945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1A1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Ikat 48 bulan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3300984" y="1463040"/>
            <a:ext cx="2505456" cy="104241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Harga murah karena bayar di muka. Batal di tengah residual bisa tidak semurah hitungan bulanan.</a:t>
            </a:r>
            <a:endParaRPr lang="en-US" sz="1100" dirty="0"/>
          </a:p>
        </p:txBody>
      </p:sp>
      <p:sp>
        <p:nvSpPr>
          <p:cNvPr id="16" name="Shape 13"/>
          <p:cNvSpPr/>
          <p:nvPr/>
        </p:nvSpPr>
        <p:spPr>
          <a:xfrm>
            <a:off x="6053328" y="1024128"/>
            <a:ext cx="2761488" cy="1572768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6163056" y="1152144"/>
            <a:ext cx="256032" cy="256032"/>
          </a:xfrm>
          <a:prstGeom prst="roundRect">
            <a:avLst>
              <a:gd name="adj" fmla="val 17857"/>
            </a:avLst>
          </a:prstGeom>
          <a:solidFill>
            <a:srgbClr val="3B82F6"/>
          </a:solidFill>
          <a:ln/>
        </p:spPr>
      </p:sp>
      <p:sp>
        <p:nvSpPr>
          <p:cNvPr id="18" name="Text 15"/>
          <p:cNvSpPr/>
          <p:nvPr/>
        </p:nvSpPr>
        <p:spPr>
          <a:xfrm>
            <a:off x="6510528" y="1115568"/>
            <a:ext cx="21945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1A1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Bukan cPanel</a:t>
            </a:r>
            <a:endParaRPr lang="en-US" sz="1200" dirty="0"/>
          </a:p>
        </p:txBody>
      </p:sp>
      <p:sp>
        <p:nvSpPr>
          <p:cNvPr id="19" name="Text 16"/>
          <p:cNvSpPr/>
          <p:nvPr/>
        </p:nvSpPr>
        <p:spPr>
          <a:xfrm>
            <a:off x="6181344" y="1463040"/>
            <a:ext cx="2505456" cy="104241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Pakai hPanel. Teknisi yang hanya terbiasa cPanel perlu waktu singkat beradaptasi.</a:t>
            </a:r>
            <a:endParaRPr lang="en-US" sz="1100" dirty="0"/>
          </a:p>
        </p:txBody>
      </p:sp>
      <p:sp>
        <p:nvSpPr>
          <p:cNvPr id="20" name="Shape 17"/>
          <p:cNvSpPr/>
          <p:nvPr/>
        </p:nvSpPr>
        <p:spPr>
          <a:xfrm>
            <a:off x="292608" y="2715768"/>
            <a:ext cx="2761488" cy="1572768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>
            <a:off x="402336" y="2843784"/>
            <a:ext cx="256032" cy="256032"/>
          </a:xfrm>
          <a:prstGeom prst="roundRect">
            <a:avLst>
              <a:gd name="adj" fmla="val 17857"/>
            </a:avLst>
          </a:prstGeom>
          <a:solidFill>
            <a:srgbClr val="F37021"/>
          </a:solidFill>
          <a:ln/>
        </p:spPr>
      </p:sp>
      <p:sp>
        <p:nvSpPr>
          <p:cNvPr id="22" name="Text 19"/>
          <p:cNvSpPr/>
          <p:nvPr/>
        </p:nvSpPr>
        <p:spPr>
          <a:xfrm>
            <a:off x="749808" y="2807208"/>
            <a:ext cx="21945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1A1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Domain &amp; mailbox tahun ke-2</a:t>
            </a:r>
            <a:endParaRPr lang="en-US" sz="1200" dirty="0"/>
          </a:p>
        </p:txBody>
      </p:sp>
      <p:sp>
        <p:nvSpPr>
          <p:cNvPr id="23" name="Text 20"/>
          <p:cNvSpPr/>
          <p:nvPr/>
        </p:nvSpPr>
        <p:spPr>
          <a:xfrm>
            <a:off x="420624" y="3154680"/>
            <a:ext cx="2505456" cy="104241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Gratis hanya tahun pertama. Domain .com ± Rp419.800/th. Mailbox terima dianggarkan terpisah.</a:t>
            </a:r>
            <a:endParaRPr lang="en-US" sz="1100" dirty="0"/>
          </a:p>
        </p:txBody>
      </p:sp>
      <p:sp>
        <p:nvSpPr>
          <p:cNvPr id="24" name="Shape 21"/>
          <p:cNvSpPr/>
          <p:nvPr/>
        </p:nvSpPr>
        <p:spPr>
          <a:xfrm>
            <a:off x="3172968" y="2715768"/>
            <a:ext cx="2761488" cy="1572768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5" name="Shape 22"/>
          <p:cNvSpPr/>
          <p:nvPr/>
        </p:nvSpPr>
        <p:spPr>
          <a:xfrm>
            <a:off x="3282696" y="2843784"/>
            <a:ext cx="256032" cy="256032"/>
          </a:xfrm>
          <a:prstGeom prst="roundRect">
            <a:avLst>
              <a:gd name="adj" fmla="val 17857"/>
            </a:avLst>
          </a:prstGeom>
          <a:solidFill>
            <a:srgbClr val="8B5CF6"/>
          </a:solidFill>
          <a:ln/>
        </p:spPr>
      </p:sp>
      <p:sp>
        <p:nvSpPr>
          <p:cNvPr id="26" name="Text 23"/>
          <p:cNvSpPr/>
          <p:nvPr/>
        </p:nvSpPr>
        <p:spPr>
          <a:xfrm>
            <a:off x="3630168" y="2807208"/>
            <a:ext cx="21945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1A1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Database BUKAN di sini</a:t>
            </a:r>
            <a:endParaRPr lang="en-US" sz="1200" dirty="0"/>
          </a:p>
        </p:txBody>
      </p:sp>
      <p:sp>
        <p:nvSpPr>
          <p:cNvPr id="27" name="Text 24"/>
          <p:cNvSpPr/>
          <p:nvPr/>
        </p:nvSpPr>
        <p:spPr>
          <a:xfrm>
            <a:off x="3300984" y="3154680"/>
            <a:ext cx="2505456" cy="104241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Laporan, login, foto tetap di Supabase. Hostinger = web + domain + mailbox terima + SSL + backup file.</a:t>
            </a:r>
            <a:endParaRPr lang="en-US" sz="1100" dirty="0"/>
          </a:p>
        </p:txBody>
      </p:sp>
      <p:sp>
        <p:nvSpPr>
          <p:cNvPr id="28" name="Shape 25"/>
          <p:cNvSpPr/>
          <p:nvPr/>
        </p:nvSpPr>
        <p:spPr>
          <a:xfrm>
            <a:off x="6053328" y="2715768"/>
            <a:ext cx="2761488" cy="1572768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Shape 26"/>
          <p:cNvSpPr/>
          <p:nvPr/>
        </p:nvSpPr>
        <p:spPr>
          <a:xfrm>
            <a:off x="6163056" y="2843784"/>
            <a:ext cx="256032" cy="256032"/>
          </a:xfrm>
          <a:prstGeom prst="roundRect">
            <a:avLst>
              <a:gd name="adj" fmla="val 17857"/>
            </a:avLst>
          </a:prstGeom>
          <a:solidFill>
            <a:srgbClr val="EF4444"/>
          </a:solidFill>
          <a:ln/>
        </p:spPr>
      </p:sp>
      <p:sp>
        <p:nvSpPr>
          <p:cNvPr id="30" name="Text 27"/>
          <p:cNvSpPr/>
          <p:nvPr/>
        </p:nvSpPr>
        <p:spPr>
          <a:xfrm>
            <a:off x="6510528" y="2807208"/>
            <a:ext cx="21945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1A1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Bukan mesin kirim email</a:t>
            </a:r>
            <a:endParaRPr lang="en-US" sz="1200" dirty="0"/>
          </a:p>
        </p:txBody>
      </p:sp>
      <p:sp>
        <p:nvSpPr>
          <p:cNvPr id="31" name="Text 28"/>
          <p:cNvSpPr/>
          <p:nvPr/>
        </p:nvSpPr>
        <p:spPr>
          <a:xfrm>
            <a:off x="6181344" y="3154680"/>
            <a:ext cx="2505456" cy="104241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Notifikasi otomatis tetap Resend. SMTP Hostinger tidak jadi rencana pengiriman.</a:t>
            </a:r>
            <a:endParaRPr lang="en-US" sz="11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04672"/>
          </a:xfrm>
          <a:prstGeom prst="rect">
            <a:avLst/>
          </a:prstGeom>
          <a:solidFill>
            <a:srgbClr val="1A1A1A"/>
          </a:solidFill>
          <a:ln/>
        </p:spPr>
      </p:sp>
      <p:pic>
        <p:nvPicPr>
          <p:cNvPr id="3" name="Image 0" descr="C:\Users\pc\Projects\safety-observation-card\public\logo\BACT Logo_OG White Tex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56032" y="128016"/>
            <a:ext cx="1325880" cy="53035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691640" y="128016"/>
            <a:ext cx="70408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3702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Hostinger vs hosting cPanel tradisional</a:t>
            </a:r>
            <a:endParaRPr lang="en-US" sz="2000" dirty="0"/>
          </a:p>
        </p:txBody>
      </p:sp>
      <p:sp>
        <p:nvSpPr>
          <p:cNvPr id="5" name="Text 2"/>
          <p:cNvSpPr/>
          <p:nvPr/>
        </p:nvSpPr>
        <p:spPr>
          <a:xfrm>
            <a:off x="1691640" y="457200"/>
            <a:ext cx="70408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cPanel = panel klasik (Niagahoster, Rumahweb, dsb). Hostinger = hPanel sendiri.</a:t>
            </a:r>
            <a:endParaRPr lang="en-US" sz="1100" dirty="0"/>
          </a:p>
        </p:txBody>
      </p:sp>
      <p:sp>
        <p:nvSpPr>
          <p:cNvPr id="6" name="Shape 3"/>
          <p:cNvSpPr/>
          <p:nvPr/>
        </p:nvSpPr>
        <p:spPr>
          <a:xfrm>
            <a:off x="0" y="804672"/>
            <a:ext cx="9144000" cy="32004"/>
          </a:xfrm>
          <a:prstGeom prst="rect">
            <a:avLst/>
          </a:prstGeom>
          <a:solidFill>
            <a:srgbClr val="F37021"/>
          </a:solidFill>
          <a:ln/>
        </p:spPr>
      </p:sp>
      <p:sp>
        <p:nvSpPr>
          <p:cNvPr id="7" name="Text 4"/>
          <p:cNvSpPr/>
          <p:nvPr/>
        </p:nvSpPr>
        <p:spPr>
          <a:xfrm>
            <a:off x="365760" y="4709160"/>
            <a:ext cx="84124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PT. BACT · Pengajuan Hosting &amp; Domain SOC · September 2026</a:t>
            </a:r>
            <a:endParaRPr lang="en-US" sz="80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56032" y="987552"/>
          <a:ext cx="8631936" cy="914400"/>
        </p:xfrm>
        <a:graphic>
          <a:graphicData uri="http://schemas.openxmlformats.org/drawingml/2006/table">
            <a:tbl>
              <a:tblPr/>
              <a:tblGrid>
                <a:gridCol w="1691640"/>
                <a:gridCol w="3474720"/>
                <a:gridCol w="3465576"/>
              </a:tblGrid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Aspek</a:t>
                      </a:r>
                      <a:endParaRPr lang="en-US" sz="10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1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Hostinger Unlimited (hPanel)</a:t>
                      </a:r>
                      <a:endParaRPr lang="en-US" sz="10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1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Hosting cPanel biasa</a:t>
                      </a:r>
                      <a:endParaRPr lang="en-US" sz="10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1A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334155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Panel</a:t>
                      </a:r>
                      <a:endParaRPr lang="en-US" sz="10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334155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hPanel — modern, lebih simpel</a:t>
                      </a:r>
                      <a:endParaRPr lang="en-US" sz="10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334155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cPanel — familiar teknisi lama</a:t>
                      </a:r>
                      <a:endParaRPr lang="en-US" sz="10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334155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Harga 4 tahun</a:t>
                      </a:r>
                      <a:endParaRPr lang="en-US" sz="10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334155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± Rp2,07 juta (promo + pajak)</a:t>
                      </a:r>
                      <a:endParaRPr lang="en-US" sz="10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334155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Sering Rp50–150 rb/bln = Rp2,4–7,2 jt</a:t>
                      </a:r>
                      <a:endParaRPr lang="en-US" sz="10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334155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Domain</a:t>
                      </a:r>
                      <a:endParaRPr lang="en-US" sz="10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334155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Gratis 1 tahun di paket</a:t>
                      </a:r>
                      <a:endParaRPr lang="en-US" sz="10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334155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Sering dibeli terpisah</a:t>
                      </a:r>
                      <a:endParaRPr lang="en-US" sz="10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334155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Mailbox terima</a:t>
                      </a:r>
                      <a:endParaRPr lang="en-US" sz="10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334155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Unlimited/website, gratis 1 th</a:t>
                      </a:r>
                      <a:endParaRPr lang="en-US" sz="10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334155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Ada, kuota tergantung paket</a:t>
                      </a:r>
                      <a:endParaRPr lang="en-US" sz="10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334155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SSL / backup file</a:t>
                      </a:r>
                      <a:endParaRPr lang="en-US" sz="10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334155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SSL otomatis + backup harian</a:t>
                      </a:r>
                      <a:endParaRPr lang="en-US" sz="10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334155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Tergantung paket; kadang add-on</a:t>
                      </a:r>
                      <a:endParaRPr lang="en-US" sz="10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334155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Database aplikasi</a:t>
                      </a:r>
                      <a:endParaRPr lang="en-US" sz="10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334155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Tidak termasuk — pakai Supabase</a:t>
                      </a:r>
                      <a:endParaRPr lang="en-US" sz="10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334155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MySQL lokal; tetap bukan arsitektur SOC</a:t>
                      </a:r>
                      <a:endParaRPr lang="en-US" sz="10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334155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Kirim notifikasi</a:t>
                      </a:r>
                      <a:endParaRPr lang="en-US" sz="10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334155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Tidak — tetap Resend</a:t>
                      </a:r>
                      <a:endParaRPr lang="en-US" sz="10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334155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SMTP hosting; deliverability sering lemah</a:t>
                      </a:r>
                      <a:endParaRPr lang="en-US" sz="10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334155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Kelemahan</a:t>
                      </a:r>
                      <a:endParaRPr lang="en-US" sz="10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334155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Shared, ikat promo, bukan cPanel</a:t>
                      </a:r>
                      <a:endParaRPr lang="en-US" sz="10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334155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Lebih mahal, UI ramai, kualitas beda-beda</a:t>
                      </a:r>
                      <a:endParaRPr lang="en-US" sz="10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04672"/>
          </a:xfrm>
          <a:prstGeom prst="rect">
            <a:avLst/>
          </a:prstGeom>
          <a:solidFill>
            <a:srgbClr val="1A1A1A"/>
          </a:solidFill>
          <a:ln/>
        </p:spPr>
      </p:sp>
      <p:pic>
        <p:nvPicPr>
          <p:cNvPr id="3" name="Image 0" descr="C:\Users\pc\Projects\safety-observation-card\public\logo\BACT Logo_OG White Tex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56032" y="128016"/>
            <a:ext cx="1325880" cy="53035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691640" y="128016"/>
            <a:ext cx="70408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3702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Tagihan 1 — Hostinger (checkout 48 bulan)</a:t>
            </a:r>
            <a:endParaRPr lang="en-US" sz="2000" dirty="0"/>
          </a:p>
        </p:txBody>
      </p:sp>
      <p:sp>
        <p:nvSpPr>
          <p:cNvPr id="5" name="Text 2"/>
          <p:cNvSpPr/>
          <p:nvPr/>
        </p:nvSpPr>
        <p:spPr>
          <a:xfrm>
            <a:off x="1691640" y="457200"/>
            <a:ext cx="70408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Angka keranjang Unlimited Sept 2026. Tidak termasuk Supabase / Resend.</a:t>
            </a:r>
            <a:endParaRPr lang="en-US" sz="1100" dirty="0"/>
          </a:p>
        </p:txBody>
      </p:sp>
      <p:sp>
        <p:nvSpPr>
          <p:cNvPr id="6" name="Shape 3"/>
          <p:cNvSpPr/>
          <p:nvPr/>
        </p:nvSpPr>
        <p:spPr>
          <a:xfrm>
            <a:off x="0" y="804672"/>
            <a:ext cx="9144000" cy="32004"/>
          </a:xfrm>
          <a:prstGeom prst="rect">
            <a:avLst/>
          </a:prstGeom>
          <a:solidFill>
            <a:srgbClr val="F37021"/>
          </a:solidFill>
          <a:ln/>
        </p:spPr>
      </p:sp>
      <p:sp>
        <p:nvSpPr>
          <p:cNvPr id="7" name="Text 4"/>
          <p:cNvSpPr/>
          <p:nvPr/>
        </p:nvSpPr>
        <p:spPr>
          <a:xfrm>
            <a:off x="365760" y="4709160"/>
            <a:ext cx="84124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PT. BACT · Pengajuan Hosting &amp; Domain SOC · September 2026</a:t>
            </a:r>
            <a:endParaRPr lang="en-US" sz="800" dirty="0"/>
          </a:p>
        </p:txBody>
      </p:sp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56032" y="960120"/>
          <a:ext cx="8631936" cy="914400"/>
        </p:xfrm>
        <a:graphic>
          <a:graphicData uri="http://schemas.openxmlformats.org/drawingml/2006/table">
            <a:tbl>
              <a:tblPr/>
              <a:tblGrid>
                <a:gridCol w="2194560"/>
                <a:gridCol w="1417320"/>
                <a:gridCol w="1965960"/>
                <a:gridCol w="3054096"/>
              </a:tblGrid>
              <a:tr h="32918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Pos biaya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1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Periode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1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Nominal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1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Keterangan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1A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Paket Unlimited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48 bulan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Rp 1.867.200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Rp38.900/bln promo (normal Rp129.900)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Backup harian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48 bulan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Rp 0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Termasuk promo (nilai ± 771 rb)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Domain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Tahun 1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Rp 0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Gratis di paket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Mailbox terima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Tahun 1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Rp 0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Gratis 1 tahun — untuk baca email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Pajak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Saat bayar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Rp 205.392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Dari keranjang Hostinger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1A1A1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TOTAL BAYAR SEKARANG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334155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48 bulan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37021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Rp 2.072.592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Efektif ± Rp43.180 / bulan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9" name="Text 5"/>
          <p:cNvSpPr/>
          <p:nvPr/>
        </p:nvSpPr>
        <p:spPr>
          <a:xfrm>
            <a:off x="320040" y="3429000"/>
            <a:ext cx="8503920" cy="1051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Sumber: keranjang Hostinger Unlimited 48 bulan (Sept 2026) + hostinger.com/id/harga (12 Sept 2026).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Perpanjangan hosting setelah 48 bulan: Rp121.900/bln (bukan Rp21.900 — itu tarif email). Domain .com tahun 2+: Rp419.800/th (tutorial harga domain Hostinger).</a:t>
            </a:r>
            <a:endParaRPr lang="en-US" sz="13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04672"/>
          </a:xfrm>
          <a:prstGeom prst="rect">
            <a:avLst/>
          </a:prstGeom>
          <a:solidFill>
            <a:srgbClr val="1A1A1A"/>
          </a:solidFill>
          <a:ln/>
        </p:spPr>
      </p:sp>
      <p:pic>
        <p:nvPicPr>
          <p:cNvPr id="3" name="Image 0" descr="C:\Users\pc\Projects\safety-observation-card\public\logo\BACT Logo_OG White Tex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56032" y="128016"/>
            <a:ext cx="1325880" cy="53035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691640" y="128016"/>
            <a:ext cx="70408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3702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Tagihan 2 — Supabase (database, login, foto)</a:t>
            </a:r>
            <a:endParaRPr lang="en-US" sz="2000" dirty="0"/>
          </a:p>
        </p:txBody>
      </p:sp>
      <p:sp>
        <p:nvSpPr>
          <p:cNvPr id="5" name="Text 2"/>
          <p:cNvSpPr/>
          <p:nvPr/>
        </p:nvSpPr>
        <p:spPr>
          <a:xfrm>
            <a:off x="1691640" y="457200"/>
            <a:ext cx="70408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supabase.com/pricing · dicek 12 September 2026 · kurs rencana Rp17.600/USD</a:t>
            </a:r>
            <a:endParaRPr lang="en-US" sz="1100" dirty="0"/>
          </a:p>
        </p:txBody>
      </p:sp>
      <p:sp>
        <p:nvSpPr>
          <p:cNvPr id="6" name="Shape 3"/>
          <p:cNvSpPr/>
          <p:nvPr/>
        </p:nvSpPr>
        <p:spPr>
          <a:xfrm>
            <a:off x="0" y="804672"/>
            <a:ext cx="9144000" cy="32004"/>
          </a:xfrm>
          <a:prstGeom prst="rect">
            <a:avLst/>
          </a:prstGeom>
          <a:solidFill>
            <a:srgbClr val="F37021"/>
          </a:solidFill>
          <a:ln/>
        </p:spPr>
      </p:sp>
      <p:sp>
        <p:nvSpPr>
          <p:cNvPr id="7" name="Text 4"/>
          <p:cNvSpPr/>
          <p:nvPr/>
        </p:nvSpPr>
        <p:spPr>
          <a:xfrm>
            <a:off x="365760" y="4709160"/>
            <a:ext cx="84124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PT. BACT · Pengajuan Hosting &amp; Domain SOC · September 2026</a:t>
            </a:r>
            <a:endParaRPr lang="en-US" sz="800" dirty="0"/>
          </a:p>
        </p:txBody>
      </p:sp>
      <p:graphicFrame>
        <p:nvGraphicFramePr>
          <p:cNvPr id="1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56032" y="987552"/>
          <a:ext cx="8631936" cy="914400"/>
        </p:xfrm>
        <a:graphic>
          <a:graphicData uri="http://schemas.openxmlformats.org/drawingml/2006/table">
            <a:tbl>
              <a:tblPr/>
              <a:tblGrid>
                <a:gridCol w="1737360"/>
                <a:gridCol w="1554480"/>
                <a:gridCol w="2743200"/>
                <a:gridCol w="2596896"/>
              </a:tblGrid>
              <a:tr h="7772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Paket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1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Harga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1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Yang didapat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1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Untuk SOC BACT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1A"/>
                    </a:solidFill>
                  </a:tcPr>
                </a:tc>
              </a:tr>
              <a:tr h="7772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Free (sekarang)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$0 / bln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≈ Rp 0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500 MB DB · 1 GB foto · 50.000 MAU · 2 project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Cukup untuk operasional awal. Project Free pause setelah 1 minggu tidak aktif.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7772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Pro (nanti)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$25 / bln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≈ Rp 440.000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8 GB disk · 100 GB storage · backup 7 hari · tidak pause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Naik jika foto/data penuh, atau butuh backup harian &amp; dukungan email.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9" name="Text 5"/>
          <p:cNvSpPr/>
          <p:nvPr/>
        </p:nvSpPr>
        <p:spPr>
          <a:xfrm>
            <a:off x="320040" y="3611880"/>
            <a:ext cx="850392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Pro $25 biasanya sudah termasuk 1 project Micro ($10 credit compute). Pajak/VAT bisa ditambah oleh Supabase sesuai alamat billing.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Hostinger tidak menggantikan slide ini. Pindah database ke MySQL Hostinger = kerja ulang besar, tidak diusulkan.</a:t>
            </a:r>
            <a:endParaRPr lang="en-US" sz="13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04672"/>
          </a:xfrm>
          <a:prstGeom prst="rect">
            <a:avLst/>
          </a:prstGeom>
          <a:solidFill>
            <a:srgbClr val="1A1A1A"/>
          </a:solidFill>
          <a:ln/>
        </p:spPr>
      </p:sp>
      <p:pic>
        <p:nvPicPr>
          <p:cNvPr id="3" name="Image 0" descr="C:\Users\pc\Projects\safety-observation-card\public\logo\BACT Logo_OG White Tex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56032" y="128016"/>
            <a:ext cx="1325880" cy="53035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691640" y="128016"/>
            <a:ext cx="70408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3702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Tagihan 3 — Resend (kirim notifikasi)</a:t>
            </a:r>
            <a:endParaRPr lang="en-US" sz="2000" dirty="0"/>
          </a:p>
        </p:txBody>
      </p:sp>
      <p:sp>
        <p:nvSpPr>
          <p:cNvPr id="5" name="Text 2"/>
          <p:cNvSpPr/>
          <p:nvPr/>
        </p:nvSpPr>
        <p:spPr>
          <a:xfrm>
            <a:off x="1691640" y="457200"/>
            <a:ext cx="70408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resend.com/pricing · dicek 12 September 2026 · mailbox Hostinger TIDAK menggantikan ini</a:t>
            </a:r>
            <a:endParaRPr lang="en-US" sz="1100" dirty="0"/>
          </a:p>
        </p:txBody>
      </p:sp>
      <p:sp>
        <p:nvSpPr>
          <p:cNvPr id="6" name="Shape 3"/>
          <p:cNvSpPr/>
          <p:nvPr/>
        </p:nvSpPr>
        <p:spPr>
          <a:xfrm>
            <a:off x="0" y="804672"/>
            <a:ext cx="9144000" cy="32004"/>
          </a:xfrm>
          <a:prstGeom prst="rect">
            <a:avLst/>
          </a:prstGeom>
          <a:solidFill>
            <a:srgbClr val="F37021"/>
          </a:solidFill>
          <a:ln/>
        </p:spPr>
      </p:sp>
      <p:sp>
        <p:nvSpPr>
          <p:cNvPr id="7" name="Text 4"/>
          <p:cNvSpPr/>
          <p:nvPr/>
        </p:nvSpPr>
        <p:spPr>
          <a:xfrm>
            <a:off x="365760" y="4709160"/>
            <a:ext cx="84124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PT. BACT · Pengajuan Hosting &amp; Domain SOC · September 2026</a:t>
            </a:r>
            <a:endParaRPr lang="en-US" sz="800" dirty="0"/>
          </a:p>
        </p:txBody>
      </p:sp>
      <p:graphicFrame>
        <p:nvGraphicFramePr>
          <p:cNvPr id="1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56032" y="987552"/>
          <a:ext cx="8631936" cy="914400"/>
        </p:xfrm>
        <a:graphic>
          <a:graphicData uri="http://schemas.openxmlformats.org/drawingml/2006/table">
            <a:tbl>
              <a:tblPr/>
              <a:tblGrid>
                <a:gridCol w="1737360"/>
                <a:gridCol w="1554480"/>
                <a:gridCol w="2743200"/>
                <a:gridCol w="2596896"/>
              </a:tblGrid>
              <a:tr h="7772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Paket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1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Harga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1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Kuota kirim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1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Untuk SOC BACT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1A"/>
                    </a:solidFill>
                  </a:tcPr>
                </a:tc>
              </a:tr>
              <a:tr h="7772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Free (sekarang)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$0 / bln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≈ Rp 0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3.000 email/bln · max 100/hari · 3 domain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Cukup: laporan baru + HiPo ke beberapa email HSE.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7772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Pro (nanti)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$20 / bln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≈ Rp 352.000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50.000 email/bln · tanpa batas harian · 10 domain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Naik jika volume harian tembus 100 atau butuh SLA lebih longgar.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9" name="Text 5"/>
          <p:cNvSpPr/>
          <p:nvPr/>
        </p:nvSpPr>
        <p:spPr>
          <a:xfrm>
            <a:off x="320040" y="3611880"/>
            <a:ext cx="850392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Rencana tetap: Resend mengirim, Hostinger mailbox menerima. SMTP Hostinger / email hosting bukan mesin notifikasi aplikasi.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Pro $35/bln = 100.000 email — jauh di atas kebutuhan SOC internal. Tidak dianggarkan sekarang.</a:t>
            </a:r>
            <a:endParaRPr lang="en-US" sz="13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04672"/>
          </a:xfrm>
          <a:prstGeom prst="rect">
            <a:avLst/>
          </a:prstGeom>
          <a:solidFill>
            <a:srgbClr val="1A1A1A"/>
          </a:solidFill>
          <a:ln/>
        </p:spPr>
      </p:sp>
      <p:pic>
        <p:nvPicPr>
          <p:cNvPr id="3" name="Image 0" descr="C:\Users\pc\Projects\safety-observation-card\public\logo\BACT Logo_OG White Tex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56032" y="128016"/>
            <a:ext cx="1325880" cy="53035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691640" y="128016"/>
            <a:ext cx="70408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3702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Estimasi 4 tahun / per tahun</a:t>
            </a:r>
            <a:endParaRPr lang="en-US" sz="2000" dirty="0"/>
          </a:p>
        </p:txBody>
      </p:sp>
      <p:sp>
        <p:nvSpPr>
          <p:cNvPr id="5" name="Text 2"/>
          <p:cNvSpPr/>
          <p:nvPr/>
        </p:nvSpPr>
        <p:spPr>
          <a:xfrm>
            <a:off x="1691640" y="457200"/>
            <a:ext cx="70408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Skenario A = tetap Free di Supabase &amp; Resend (rekomendasi sekarang). Angka dibulatkan.</a:t>
            </a:r>
            <a:endParaRPr lang="en-US" sz="1100" dirty="0"/>
          </a:p>
        </p:txBody>
      </p:sp>
      <p:sp>
        <p:nvSpPr>
          <p:cNvPr id="6" name="Shape 3"/>
          <p:cNvSpPr/>
          <p:nvPr/>
        </p:nvSpPr>
        <p:spPr>
          <a:xfrm>
            <a:off x="0" y="804672"/>
            <a:ext cx="9144000" cy="32004"/>
          </a:xfrm>
          <a:prstGeom prst="rect">
            <a:avLst/>
          </a:prstGeom>
          <a:solidFill>
            <a:srgbClr val="F37021"/>
          </a:solidFill>
          <a:ln/>
        </p:spPr>
      </p:sp>
      <p:sp>
        <p:nvSpPr>
          <p:cNvPr id="7" name="Text 4"/>
          <p:cNvSpPr/>
          <p:nvPr/>
        </p:nvSpPr>
        <p:spPr>
          <a:xfrm>
            <a:off x="365760" y="4709160"/>
            <a:ext cx="84124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PT. BACT · Pengajuan Hosting &amp; Domain SOC · September 2026</a:t>
            </a:r>
            <a:endParaRPr lang="en-US" sz="800" dirty="0"/>
          </a:p>
        </p:txBody>
      </p:sp>
      <p:graphicFrame>
        <p:nvGraphicFramePr>
          <p:cNvPr id="1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182880" y="932688"/>
          <a:ext cx="8778240" cy="914400"/>
        </p:xfrm>
        <a:graphic>
          <a:graphicData uri="http://schemas.openxmlformats.org/drawingml/2006/table">
            <a:tbl>
              <a:tblPr/>
              <a:tblGrid>
                <a:gridCol w="1965960"/>
                <a:gridCol w="1362456"/>
                <a:gridCol w="1362456"/>
                <a:gridCol w="1362456"/>
                <a:gridCol w="1362456"/>
                <a:gridCol w="1362456"/>
              </a:tblGrid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Pos</a:t>
                      </a:r>
                      <a:endParaRPr lang="en-US" sz="10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1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Tahun 1</a:t>
                      </a:r>
                      <a:endParaRPr lang="en-US" sz="10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1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Tahun 2</a:t>
                      </a:r>
                      <a:endParaRPr lang="en-US" sz="10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1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Tahun 3</a:t>
                      </a:r>
                      <a:endParaRPr lang="en-US" sz="10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1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Tahun 4</a:t>
                      </a:r>
                      <a:endParaRPr lang="en-US" sz="10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1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4 tahun</a:t>
                      </a:r>
                      <a:endParaRPr lang="en-US" sz="10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1A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334155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Hostinger hosting+pajak</a:t>
                      </a:r>
                      <a:endParaRPr lang="en-US" sz="10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334155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Rp 2.072.592</a:t>
                      </a:r>
                      <a:endParaRPr lang="en-US" sz="10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334155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Rp 0</a:t>
                      </a:r>
                      <a:endParaRPr lang="en-US" sz="10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334155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Rp 0</a:t>
                      </a:r>
                      <a:endParaRPr lang="en-US" sz="10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334155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Rp 0</a:t>
                      </a:r>
                      <a:endParaRPr lang="en-US" sz="10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334155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Rp 2.072.592</a:t>
                      </a:r>
                      <a:endParaRPr lang="en-US" sz="10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334155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Domain .com</a:t>
                      </a:r>
                      <a:endParaRPr lang="en-US" sz="10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334155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Rp 0</a:t>
                      </a:r>
                      <a:endParaRPr lang="en-US" sz="10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334155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Rp 419.800</a:t>
                      </a:r>
                      <a:endParaRPr lang="en-US" sz="10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334155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Rp 419.800</a:t>
                      </a:r>
                      <a:endParaRPr lang="en-US" sz="10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334155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Rp 419.800</a:t>
                      </a:r>
                      <a:endParaRPr lang="en-US" sz="10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334155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Rp 1.259.400</a:t>
                      </a:r>
                      <a:endParaRPr lang="en-US" sz="10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334155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Mailbox terima (1 akun)*</a:t>
                      </a:r>
                      <a:endParaRPr lang="en-US" sz="10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334155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Rp 0</a:t>
                      </a:r>
                      <a:endParaRPr lang="en-US" sz="10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334155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Rp 166.800</a:t>
                      </a:r>
                      <a:endParaRPr lang="en-US" sz="10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334155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Rp 166.800</a:t>
                      </a:r>
                      <a:endParaRPr lang="en-US" sz="10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334155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Rp 166.800</a:t>
                      </a:r>
                      <a:endParaRPr lang="en-US" sz="10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334155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Rp 500.400</a:t>
                      </a:r>
                      <a:endParaRPr lang="en-US" sz="10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334155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Supabase Free</a:t>
                      </a:r>
                      <a:endParaRPr lang="en-US" sz="10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334155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Rp 0</a:t>
                      </a:r>
                      <a:endParaRPr lang="en-US" sz="10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334155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Rp 0</a:t>
                      </a:r>
                      <a:endParaRPr lang="en-US" sz="10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334155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Rp 0</a:t>
                      </a:r>
                      <a:endParaRPr lang="en-US" sz="10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334155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Rp 0</a:t>
                      </a:r>
                      <a:endParaRPr lang="en-US" sz="10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334155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Rp 0</a:t>
                      </a:r>
                      <a:endParaRPr lang="en-US" sz="10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334155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Resend Free</a:t>
                      </a:r>
                      <a:endParaRPr lang="en-US" sz="10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334155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Rp 0</a:t>
                      </a:r>
                      <a:endParaRPr lang="en-US" sz="10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334155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Rp 0</a:t>
                      </a:r>
                      <a:endParaRPr lang="en-US" sz="10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334155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Rp 0</a:t>
                      </a:r>
                      <a:endParaRPr lang="en-US" sz="10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334155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Rp 0</a:t>
                      </a:r>
                      <a:endParaRPr lang="en-US" sz="10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334155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Rp 0</a:t>
                      </a:r>
                      <a:endParaRPr lang="en-US" sz="10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1A1A1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TOTAL skenario A</a:t>
                      </a:r>
                      <a:endParaRPr lang="en-US" sz="10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334155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Rp 2.072.592</a:t>
                      </a:r>
                      <a:endParaRPr lang="en-US" sz="10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334155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Rp 586.600</a:t>
                      </a:r>
                      <a:endParaRPr lang="en-US" sz="10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334155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Rp 586.600</a:t>
                      </a:r>
                      <a:endParaRPr lang="en-US" sz="10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334155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Rp 586.600</a:t>
                      </a:r>
                      <a:endParaRPr lang="en-US" sz="10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37021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Rp 3.832.392</a:t>
                      </a:r>
                      <a:endParaRPr lang="en-US" sz="10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9" name="Text 5"/>
          <p:cNvSpPr/>
          <p:nvPr/>
        </p:nvSpPr>
        <p:spPr>
          <a:xfrm>
            <a:off x="256032" y="3401568"/>
            <a:ext cx="8631936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*Mailbox tahun 2–4: 1 akun Hostinger Email Starter, tarif perpanjang publik Rp13.900/bln × 12. Opsional jika mailbox perusahaan sudah ada di tempat lain.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Kalau suatu hari naik Pro: Supabase ≈ Rp440 rb/bln (Rp5,28 jt/th) + Resend ≈ Rp352 rb/bln (Rp4,22 jt/th). Itu tagihan terpisah, bukan Hostinger.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Sumber: hostinger.com/id/harga · /harga/email-hosting · tutorial domain Hostinger · supabase.com/pricing · resend.com/pricing · 12 Sept 2026.</a:t>
            </a:r>
            <a:endParaRPr lang="en-US" sz="11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04672"/>
          </a:xfrm>
          <a:prstGeom prst="rect">
            <a:avLst/>
          </a:prstGeom>
          <a:solidFill>
            <a:srgbClr val="1A1A1A"/>
          </a:solidFill>
          <a:ln/>
        </p:spPr>
      </p:sp>
      <p:pic>
        <p:nvPicPr>
          <p:cNvPr id="3" name="Image 0" descr="C:\Users\pc\Projects\safety-observation-card\public\logo\BACT Logo_OG White Tex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56032" y="128016"/>
            <a:ext cx="1325880" cy="53035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691640" y="128016"/>
            <a:ext cx="70408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3702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Keamanan aplikasi SOC</a:t>
            </a:r>
            <a:endParaRPr lang="en-US" sz="2000" dirty="0"/>
          </a:p>
        </p:txBody>
      </p:sp>
      <p:sp>
        <p:nvSpPr>
          <p:cNvPr id="5" name="Text 2"/>
          <p:cNvSpPr/>
          <p:nvPr/>
        </p:nvSpPr>
        <p:spPr>
          <a:xfrm>
            <a:off x="1691640" y="457200"/>
            <a:ext cx="70408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Yang sudah ada di sistem kita — bukan hanya andalkan hosting</a:t>
            </a:r>
            <a:endParaRPr lang="en-US" sz="1100" dirty="0"/>
          </a:p>
        </p:txBody>
      </p:sp>
      <p:sp>
        <p:nvSpPr>
          <p:cNvPr id="6" name="Shape 3"/>
          <p:cNvSpPr/>
          <p:nvPr/>
        </p:nvSpPr>
        <p:spPr>
          <a:xfrm>
            <a:off x="0" y="804672"/>
            <a:ext cx="9144000" cy="32004"/>
          </a:xfrm>
          <a:prstGeom prst="rect">
            <a:avLst/>
          </a:prstGeom>
          <a:solidFill>
            <a:srgbClr val="F37021"/>
          </a:solidFill>
          <a:ln/>
        </p:spPr>
      </p:sp>
      <p:sp>
        <p:nvSpPr>
          <p:cNvPr id="7" name="Text 4"/>
          <p:cNvSpPr/>
          <p:nvPr/>
        </p:nvSpPr>
        <p:spPr>
          <a:xfrm>
            <a:off x="365760" y="4709160"/>
            <a:ext cx="84124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PT. BACT · Pengajuan Hosting &amp; Domain SOC · September 2026</a:t>
            </a:r>
            <a:endParaRPr lang="en-US" sz="800" dirty="0"/>
          </a:p>
        </p:txBody>
      </p:sp>
      <p:sp>
        <p:nvSpPr>
          <p:cNvPr id="8" name="Shape 5"/>
          <p:cNvSpPr/>
          <p:nvPr/>
        </p:nvSpPr>
        <p:spPr>
          <a:xfrm>
            <a:off x="292608" y="1024128"/>
            <a:ext cx="2761488" cy="1572768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402336" y="1152144"/>
            <a:ext cx="256032" cy="256032"/>
          </a:xfrm>
          <a:prstGeom prst="roundRect">
            <a:avLst>
              <a:gd name="adj" fmla="val 17857"/>
            </a:avLst>
          </a:prstGeom>
          <a:solidFill>
            <a:srgbClr val="3B82F6"/>
          </a:solidFill>
          <a:ln/>
        </p:spPr>
      </p:sp>
      <p:sp>
        <p:nvSpPr>
          <p:cNvPr id="10" name="Text 7"/>
          <p:cNvSpPr/>
          <p:nvPr/>
        </p:nvSpPr>
        <p:spPr>
          <a:xfrm>
            <a:off x="749808" y="1115568"/>
            <a:ext cx="21945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1A1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Pintu terpisah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420624" y="1463040"/>
            <a:ext cx="2505456" cy="104241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Form pelapor publik hanya kirim laporan baru. Dashboard HSE wajib login. Pelapor tidak bisa edit data HSE.</a:t>
            </a:r>
            <a:endParaRPr lang="en-US" sz="1100" dirty="0"/>
          </a:p>
        </p:txBody>
      </p:sp>
      <p:sp>
        <p:nvSpPr>
          <p:cNvPr id="12" name="Shape 9"/>
          <p:cNvSpPr/>
          <p:nvPr/>
        </p:nvSpPr>
        <p:spPr>
          <a:xfrm>
            <a:off x="3172968" y="1024128"/>
            <a:ext cx="2761488" cy="1572768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3282696" y="1152144"/>
            <a:ext cx="256032" cy="256032"/>
          </a:xfrm>
          <a:prstGeom prst="roundRect">
            <a:avLst>
              <a:gd name="adj" fmla="val 17857"/>
            </a:avLst>
          </a:prstGeom>
          <a:solidFill>
            <a:srgbClr val="3B82F6"/>
          </a:solidFill>
          <a:ln/>
        </p:spPr>
      </p:sp>
      <p:sp>
        <p:nvSpPr>
          <p:cNvPr id="14" name="Text 11"/>
          <p:cNvSpPr/>
          <p:nvPr/>
        </p:nvSpPr>
        <p:spPr>
          <a:xfrm>
            <a:off x="3630168" y="1115568"/>
            <a:ext cx="21945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1A1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Role berjenjang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3300984" y="1463040"/>
            <a:ext cx="2505456" cy="104241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Viewer lihat saja. HSE klasifikasi &amp; investigasi. Super Admin kelola akun + Log HSE. PIC = assign laporan, bukan login.</a:t>
            </a:r>
            <a:endParaRPr lang="en-US" sz="1100" dirty="0"/>
          </a:p>
        </p:txBody>
      </p:sp>
      <p:sp>
        <p:nvSpPr>
          <p:cNvPr id="16" name="Shape 13"/>
          <p:cNvSpPr/>
          <p:nvPr/>
        </p:nvSpPr>
        <p:spPr>
          <a:xfrm>
            <a:off x="6053328" y="1024128"/>
            <a:ext cx="2761488" cy="1572768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6163056" y="1152144"/>
            <a:ext cx="256032" cy="256032"/>
          </a:xfrm>
          <a:prstGeom prst="roundRect">
            <a:avLst>
              <a:gd name="adj" fmla="val 17857"/>
            </a:avLst>
          </a:prstGeom>
          <a:solidFill>
            <a:srgbClr val="3B82F6"/>
          </a:solidFill>
          <a:ln/>
        </p:spPr>
      </p:sp>
      <p:sp>
        <p:nvSpPr>
          <p:cNvPr id="18" name="Text 15"/>
          <p:cNvSpPr/>
          <p:nvPr/>
        </p:nvSpPr>
        <p:spPr>
          <a:xfrm>
            <a:off x="6510528" y="1115568"/>
            <a:ext cx="21945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1A1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Autentikasi</a:t>
            </a:r>
            <a:endParaRPr lang="en-US" sz="1200" dirty="0"/>
          </a:p>
        </p:txBody>
      </p:sp>
      <p:sp>
        <p:nvSpPr>
          <p:cNvPr id="19" name="Text 16"/>
          <p:cNvSpPr/>
          <p:nvPr/>
        </p:nvSpPr>
        <p:spPr>
          <a:xfrm>
            <a:off x="6181344" y="1463040"/>
            <a:ext cx="2505456" cy="104241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Login email + password (Supabase Auth). Sesi terproteksi. Akun bisa dinonaktifkan tanpa hapus jejak.</a:t>
            </a:r>
            <a:endParaRPr lang="en-US" sz="1100" dirty="0"/>
          </a:p>
        </p:txBody>
      </p:sp>
      <p:sp>
        <p:nvSpPr>
          <p:cNvPr id="20" name="Shape 17"/>
          <p:cNvSpPr/>
          <p:nvPr/>
        </p:nvSpPr>
        <p:spPr>
          <a:xfrm>
            <a:off x="292608" y="2715768"/>
            <a:ext cx="2761488" cy="1572768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>
            <a:off x="402336" y="2843784"/>
            <a:ext cx="256032" cy="256032"/>
          </a:xfrm>
          <a:prstGeom prst="roundRect">
            <a:avLst>
              <a:gd name="adj" fmla="val 17857"/>
            </a:avLst>
          </a:prstGeom>
          <a:solidFill>
            <a:srgbClr val="3B82F6"/>
          </a:solidFill>
          <a:ln/>
        </p:spPr>
      </p:sp>
      <p:sp>
        <p:nvSpPr>
          <p:cNvPr id="22" name="Text 19"/>
          <p:cNvSpPr/>
          <p:nvPr/>
        </p:nvSpPr>
        <p:spPr>
          <a:xfrm>
            <a:off x="749808" y="2807208"/>
            <a:ext cx="21945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1A1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Aturan database</a:t>
            </a:r>
            <a:endParaRPr lang="en-US" sz="1200" dirty="0"/>
          </a:p>
        </p:txBody>
      </p:sp>
      <p:sp>
        <p:nvSpPr>
          <p:cNvPr id="23" name="Text 20"/>
          <p:cNvSpPr/>
          <p:nvPr/>
        </p:nvSpPr>
        <p:spPr>
          <a:xfrm>
            <a:off x="420624" y="3154680"/>
            <a:ext cx="2505456" cy="104241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Row Level Security: insert laporan untuk publik; baca/ubah hanya akun login. Foto di storage terpisah.</a:t>
            </a:r>
            <a:endParaRPr lang="en-US" sz="1100" dirty="0"/>
          </a:p>
        </p:txBody>
      </p:sp>
      <p:sp>
        <p:nvSpPr>
          <p:cNvPr id="24" name="Shape 21"/>
          <p:cNvSpPr/>
          <p:nvPr/>
        </p:nvSpPr>
        <p:spPr>
          <a:xfrm>
            <a:off x="3172968" y="2715768"/>
            <a:ext cx="2761488" cy="1572768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5" name="Shape 22"/>
          <p:cNvSpPr/>
          <p:nvPr/>
        </p:nvSpPr>
        <p:spPr>
          <a:xfrm>
            <a:off x="3282696" y="2843784"/>
            <a:ext cx="256032" cy="256032"/>
          </a:xfrm>
          <a:prstGeom prst="roundRect">
            <a:avLst>
              <a:gd name="adj" fmla="val 17857"/>
            </a:avLst>
          </a:prstGeom>
          <a:solidFill>
            <a:srgbClr val="3B82F6"/>
          </a:solidFill>
          <a:ln/>
        </p:spPr>
      </p:sp>
      <p:sp>
        <p:nvSpPr>
          <p:cNvPr id="26" name="Text 23"/>
          <p:cNvSpPr/>
          <p:nvPr/>
        </p:nvSpPr>
        <p:spPr>
          <a:xfrm>
            <a:off x="3630168" y="2807208"/>
            <a:ext cx="21945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1A1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Jejak audit</a:t>
            </a:r>
            <a:endParaRPr lang="en-US" sz="1200" dirty="0"/>
          </a:p>
        </p:txBody>
      </p:sp>
      <p:sp>
        <p:nvSpPr>
          <p:cNvPr id="27" name="Text 24"/>
          <p:cNvSpPr/>
          <p:nvPr/>
        </p:nvSpPr>
        <p:spPr>
          <a:xfrm>
            <a:off x="3300984" y="3154680"/>
            <a:ext cx="2505456" cy="104241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Perubahan status, PIC, klasifikasi tercatat. Berguna untuk investigasi internal dan ISO/audit eksternal.</a:t>
            </a:r>
            <a:endParaRPr lang="en-US" sz="1100" dirty="0"/>
          </a:p>
        </p:txBody>
      </p:sp>
      <p:sp>
        <p:nvSpPr>
          <p:cNvPr id="28" name="Shape 25"/>
          <p:cNvSpPr/>
          <p:nvPr/>
        </p:nvSpPr>
        <p:spPr>
          <a:xfrm>
            <a:off x="6053328" y="2715768"/>
            <a:ext cx="2761488" cy="1572768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Shape 26"/>
          <p:cNvSpPr/>
          <p:nvPr/>
        </p:nvSpPr>
        <p:spPr>
          <a:xfrm>
            <a:off x="6163056" y="2843784"/>
            <a:ext cx="256032" cy="256032"/>
          </a:xfrm>
          <a:prstGeom prst="roundRect">
            <a:avLst>
              <a:gd name="adj" fmla="val 17857"/>
            </a:avLst>
          </a:prstGeom>
          <a:solidFill>
            <a:srgbClr val="3B82F6"/>
          </a:solidFill>
          <a:ln/>
        </p:spPr>
      </p:sp>
      <p:sp>
        <p:nvSpPr>
          <p:cNvPr id="30" name="Text 27"/>
          <p:cNvSpPr/>
          <p:nvPr/>
        </p:nvSpPr>
        <p:spPr>
          <a:xfrm>
            <a:off x="6510528" y="2807208"/>
            <a:ext cx="21945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1A1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HTTPS &amp; data</a:t>
            </a:r>
            <a:endParaRPr lang="en-US" sz="1200" dirty="0"/>
          </a:p>
        </p:txBody>
      </p:sp>
      <p:sp>
        <p:nvSpPr>
          <p:cNvPr id="31" name="Text 28"/>
          <p:cNvSpPr/>
          <p:nvPr/>
        </p:nvSpPr>
        <p:spPr>
          <a:xfrm>
            <a:off x="6181344" y="3154680"/>
            <a:ext cx="2505456" cy="104241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Semua akses lewat SSL. Data tidak disimpan di laptop HSE sebagai “master file” Excel.</a:t>
            </a:r>
            <a:endParaRPr lang="en-US" sz="11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04672"/>
          </a:xfrm>
          <a:prstGeom prst="rect">
            <a:avLst/>
          </a:prstGeom>
          <a:solidFill>
            <a:srgbClr val="1A1A1A"/>
          </a:solidFill>
          <a:ln/>
        </p:spPr>
      </p:sp>
      <p:pic>
        <p:nvPicPr>
          <p:cNvPr id="3" name="Image 0" descr="C:\Users\pc\Projects\safety-observation-card\public\logo\BACT Logo_OG White Tex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56032" y="128016"/>
            <a:ext cx="1325880" cy="53035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691640" y="128016"/>
            <a:ext cx="70408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3702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Keamanan Hostinger — apakah aman?</a:t>
            </a:r>
            <a:endParaRPr lang="en-US" sz="2000" dirty="0"/>
          </a:p>
        </p:txBody>
      </p:sp>
      <p:sp>
        <p:nvSpPr>
          <p:cNvPr id="5" name="Text 2"/>
          <p:cNvSpPr/>
          <p:nvPr/>
        </p:nvSpPr>
        <p:spPr>
          <a:xfrm>
            <a:off x="1691640" y="457200"/>
            <a:ext cx="70408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Jawaban singkat: ya, aman untuk aplikasi HSE internal jika disiplin akun</a:t>
            </a:r>
            <a:endParaRPr lang="en-US" sz="1100" dirty="0"/>
          </a:p>
        </p:txBody>
      </p:sp>
      <p:sp>
        <p:nvSpPr>
          <p:cNvPr id="6" name="Shape 3"/>
          <p:cNvSpPr/>
          <p:nvPr/>
        </p:nvSpPr>
        <p:spPr>
          <a:xfrm>
            <a:off x="0" y="804672"/>
            <a:ext cx="9144000" cy="32004"/>
          </a:xfrm>
          <a:prstGeom prst="rect">
            <a:avLst/>
          </a:prstGeom>
          <a:solidFill>
            <a:srgbClr val="F37021"/>
          </a:solidFill>
          <a:ln/>
        </p:spPr>
      </p:sp>
      <p:sp>
        <p:nvSpPr>
          <p:cNvPr id="7" name="Text 4"/>
          <p:cNvSpPr/>
          <p:nvPr/>
        </p:nvSpPr>
        <p:spPr>
          <a:xfrm>
            <a:off x="365760" y="4709160"/>
            <a:ext cx="84124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PT. BACT · Pengajuan Hosting &amp; Domain SOC · September 2026</a:t>
            </a:r>
            <a:endParaRPr lang="en-US" sz="800" dirty="0"/>
          </a:p>
        </p:txBody>
      </p:sp>
      <p:graphicFrame>
        <p:nvGraphicFramePr>
          <p:cNvPr id="1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56032" y="987552"/>
          <a:ext cx="8631936" cy="914400"/>
        </p:xfrm>
        <a:graphic>
          <a:graphicData uri="http://schemas.openxmlformats.org/drawingml/2006/table">
            <a:tbl>
              <a:tblPr/>
              <a:tblGrid>
                <a:gridCol w="1920240"/>
                <a:gridCol w="3840480"/>
                <a:gridCol w="2871216"/>
              </a:tblGrid>
              <a:tr h="34747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Lapisan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1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Yang didapat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1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Catatan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1A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SSL / HTTPS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Sertifikat otomatis, data terenkripsi di transit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Wajib untuk form &amp; login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Firewall &amp; DDoS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WAF + filter lalu lintas bermusuhan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Standar hosting modern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Malware scanner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Scan file otomatis (Monarx)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Fokus file web, bukan isi database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Backup file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Harian + restore dari panel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Pulihkan jika salah deploy / rusak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Sertifikasi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Hostinger ISO/IEC 27001:2022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Tata kelola keamanan penyedia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Akun panel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Bisa 2FA di Hostinger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Wajib diaktifkan IT/admin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9" name="Text 5"/>
          <p:cNvSpPr/>
          <p:nvPr/>
        </p:nvSpPr>
        <p:spPr>
          <a:xfrm>
            <a:off x="320040" y="3246120"/>
            <a:ext cx="8503920" cy="1051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Bukan “aman mutlak” (tidak ada hosting shared yang 100%). Cukup aman untuk SOC: data operasional HSE, bukan data kartu kredit nasabah.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Syarat: password kuat, 2FA panel, jangan share Super Admin, review user nonaktif, dan jangan taruh banyak website liar di akun yang sama.</a:t>
            </a:r>
            <a:endParaRPr lang="en-US" sz="13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04672"/>
          </a:xfrm>
          <a:prstGeom prst="rect">
            <a:avLst/>
          </a:prstGeom>
          <a:solidFill>
            <a:srgbClr val="1A1A1A"/>
          </a:solidFill>
          <a:ln/>
        </p:spPr>
      </p:sp>
      <p:pic>
        <p:nvPicPr>
          <p:cNvPr id="3" name="Image 0" descr="C:\Users\pc\Projects\safety-observation-card\public\logo\BACT Logo_OG White Tex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56032" y="128016"/>
            <a:ext cx="1325880" cy="53035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691640" y="128016"/>
            <a:ext cx="70408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3702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Rekomendasi</a:t>
            </a:r>
            <a:endParaRPr lang="en-US" sz="2000" dirty="0"/>
          </a:p>
        </p:txBody>
      </p:sp>
      <p:sp>
        <p:nvSpPr>
          <p:cNvPr id="5" name="Text 2"/>
          <p:cNvSpPr/>
          <p:nvPr/>
        </p:nvSpPr>
        <p:spPr>
          <a:xfrm>
            <a:off x="1691640" y="457200"/>
            <a:ext cx="70408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Usulan keputusan untuk manajemen</a:t>
            </a:r>
            <a:endParaRPr lang="en-US" sz="1100" dirty="0"/>
          </a:p>
        </p:txBody>
      </p:sp>
      <p:sp>
        <p:nvSpPr>
          <p:cNvPr id="6" name="Shape 3"/>
          <p:cNvSpPr/>
          <p:nvPr/>
        </p:nvSpPr>
        <p:spPr>
          <a:xfrm>
            <a:off x="0" y="804672"/>
            <a:ext cx="9144000" cy="32004"/>
          </a:xfrm>
          <a:prstGeom prst="rect">
            <a:avLst/>
          </a:prstGeom>
          <a:solidFill>
            <a:srgbClr val="F37021"/>
          </a:solidFill>
          <a:ln/>
        </p:spPr>
      </p:sp>
      <p:sp>
        <p:nvSpPr>
          <p:cNvPr id="7" name="Text 4"/>
          <p:cNvSpPr/>
          <p:nvPr/>
        </p:nvSpPr>
        <p:spPr>
          <a:xfrm>
            <a:off x="365760" y="4709160"/>
            <a:ext cx="84124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PT. BACT · Pengajuan Hosting &amp; Domain SOC · September 2026</a:t>
            </a:r>
            <a:endParaRPr lang="en-US" sz="800" dirty="0"/>
          </a:p>
        </p:txBody>
      </p:sp>
      <p:sp>
        <p:nvSpPr>
          <p:cNvPr id="8" name="Shape 5"/>
          <p:cNvSpPr/>
          <p:nvPr/>
        </p:nvSpPr>
        <p:spPr>
          <a:xfrm>
            <a:off x="320040" y="1051560"/>
            <a:ext cx="4114800" cy="1554480"/>
          </a:xfrm>
          <a:prstGeom prst="roundRect">
            <a:avLst>
              <a:gd name="adj" fmla="val 4706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429768" y="1179576"/>
            <a:ext cx="256032" cy="256032"/>
          </a:xfrm>
          <a:prstGeom prst="roundRect">
            <a:avLst>
              <a:gd name="adj" fmla="val 17857"/>
            </a:avLst>
          </a:prstGeom>
          <a:solidFill>
            <a:srgbClr val="F37021"/>
          </a:solidFill>
          <a:ln/>
        </p:spPr>
      </p:sp>
      <p:sp>
        <p:nvSpPr>
          <p:cNvPr id="10" name="Text 7"/>
          <p:cNvSpPr/>
          <p:nvPr/>
        </p:nvSpPr>
        <p:spPr>
          <a:xfrm>
            <a:off x="777240" y="1143000"/>
            <a:ext cx="3547872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1A1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Setujui upgrade SOC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448056" y="1490472"/>
            <a:ext cx="3858768" cy="102412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Jadikan aplikasi sebagai sistem resmi HSE. Excel hanya arsip/export. Tim lapangan lapor lewat QR/HP.</a:t>
            </a:r>
            <a:endParaRPr lang="en-US" sz="1100" dirty="0"/>
          </a:p>
        </p:txBody>
      </p:sp>
      <p:sp>
        <p:nvSpPr>
          <p:cNvPr id="12" name="Shape 9"/>
          <p:cNvSpPr/>
          <p:nvPr/>
        </p:nvSpPr>
        <p:spPr>
          <a:xfrm>
            <a:off x="4617720" y="1051560"/>
            <a:ext cx="4114800" cy="1554480"/>
          </a:xfrm>
          <a:prstGeom prst="roundRect">
            <a:avLst>
              <a:gd name="adj" fmla="val 4706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4727448" y="1179576"/>
            <a:ext cx="256032" cy="256032"/>
          </a:xfrm>
          <a:prstGeom prst="roundRect">
            <a:avLst>
              <a:gd name="adj" fmla="val 17857"/>
            </a:avLst>
          </a:prstGeom>
          <a:solidFill>
            <a:srgbClr val="10B981"/>
          </a:solidFill>
          <a:ln/>
        </p:spPr>
      </p:sp>
      <p:sp>
        <p:nvSpPr>
          <p:cNvPr id="14" name="Text 11"/>
          <p:cNvSpPr/>
          <p:nvPr/>
        </p:nvSpPr>
        <p:spPr>
          <a:xfrm>
            <a:off x="5074920" y="1143000"/>
            <a:ext cx="3547872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1A1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Setujui Hostinger Unlimited 48 bln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4745736" y="1490472"/>
            <a:ext cx="3858768" cy="102412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Bayar sekarang Rp2.072.592 untuk web + domain + SSL + backup file + mailbox terima tahun 1.</a:t>
            </a:r>
            <a:endParaRPr lang="en-US" sz="1100" dirty="0"/>
          </a:p>
        </p:txBody>
      </p:sp>
      <p:sp>
        <p:nvSpPr>
          <p:cNvPr id="16" name="Shape 13"/>
          <p:cNvSpPr/>
          <p:nvPr/>
        </p:nvSpPr>
        <p:spPr>
          <a:xfrm>
            <a:off x="320040" y="2743200"/>
            <a:ext cx="4114800" cy="1554480"/>
          </a:xfrm>
          <a:prstGeom prst="roundRect">
            <a:avLst>
              <a:gd name="adj" fmla="val 4706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429768" y="2871216"/>
            <a:ext cx="256032" cy="256032"/>
          </a:xfrm>
          <a:prstGeom prst="roundRect">
            <a:avLst>
              <a:gd name="adj" fmla="val 17857"/>
            </a:avLst>
          </a:prstGeom>
          <a:solidFill>
            <a:srgbClr val="3B82F6"/>
          </a:solidFill>
          <a:ln/>
        </p:spPr>
      </p:sp>
      <p:sp>
        <p:nvSpPr>
          <p:cNvPr id="18" name="Text 15"/>
          <p:cNvSpPr/>
          <p:nvPr/>
        </p:nvSpPr>
        <p:spPr>
          <a:xfrm>
            <a:off x="777240" y="2834640"/>
            <a:ext cx="3547872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1A1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Tetap Free dulu di cloud data</a:t>
            </a:r>
            <a:endParaRPr lang="en-US" sz="1200" dirty="0"/>
          </a:p>
        </p:txBody>
      </p:sp>
      <p:sp>
        <p:nvSpPr>
          <p:cNvPr id="19" name="Text 16"/>
          <p:cNvSpPr/>
          <p:nvPr/>
        </p:nvSpPr>
        <p:spPr>
          <a:xfrm>
            <a:off x="448056" y="3182112"/>
            <a:ext cx="3858768" cy="102412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Supabase + Resend $0 selama kuota cukup. Siapkan Pro hanya jika kapasitas/volume naik (angka di slide 13–15).</a:t>
            </a:r>
            <a:endParaRPr lang="en-US" sz="1100" dirty="0"/>
          </a:p>
        </p:txBody>
      </p:sp>
      <p:sp>
        <p:nvSpPr>
          <p:cNvPr id="20" name="Shape 17"/>
          <p:cNvSpPr/>
          <p:nvPr/>
        </p:nvSpPr>
        <p:spPr>
          <a:xfrm>
            <a:off x="4617720" y="2743200"/>
            <a:ext cx="4114800" cy="1554480"/>
          </a:xfrm>
          <a:prstGeom prst="roundRect">
            <a:avLst>
              <a:gd name="adj" fmla="val 4706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>
            <a:off x="4727448" y="2871216"/>
            <a:ext cx="256032" cy="256032"/>
          </a:xfrm>
          <a:prstGeom prst="roundRect">
            <a:avLst>
              <a:gd name="adj" fmla="val 17857"/>
            </a:avLst>
          </a:prstGeom>
          <a:solidFill>
            <a:srgbClr val="8B5CF6"/>
          </a:solidFill>
          <a:ln/>
        </p:spPr>
      </p:sp>
      <p:sp>
        <p:nvSpPr>
          <p:cNvPr id="22" name="Text 19"/>
          <p:cNvSpPr/>
          <p:nvPr/>
        </p:nvSpPr>
        <p:spPr>
          <a:xfrm>
            <a:off x="5074920" y="2834640"/>
            <a:ext cx="3547872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1A1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IT + HSE kelola akses</a:t>
            </a:r>
            <a:endParaRPr lang="en-US" sz="1200" dirty="0"/>
          </a:p>
        </p:txBody>
      </p:sp>
      <p:sp>
        <p:nvSpPr>
          <p:cNvPr id="23" name="Text 20"/>
          <p:cNvSpPr/>
          <p:nvPr/>
        </p:nvSpPr>
        <p:spPr>
          <a:xfrm>
            <a:off x="4745736" y="3182112"/>
            <a:ext cx="3858768" cy="102412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2FA Hostinger. Super Admin terbatas. HSE harian = HSE Officer. Viewer untuk manajemen yang hanya pantau.</a:t>
            </a:r>
            <a:endParaRPr lang="en-US" sz="11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1A1A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F37021"/>
          </a:solidFill>
          <a:ln/>
        </p:spPr>
      </p:sp>
      <p:pic>
        <p:nvPicPr>
          <p:cNvPr id="3" name="Image 0" descr="C:\Users\pc\Projects\safety-observation-card\public\logo\BACT Logo_OG White Tex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365760"/>
            <a:ext cx="1920240" cy="749808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502920" y="1280160"/>
            <a:ext cx="8046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Keputusan yang diminta</a:t>
            </a:r>
            <a:endParaRPr lang="en-US" sz="2600" dirty="0"/>
          </a:p>
        </p:txBody>
      </p:sp>
      <p:sp>
        <p:nvSpPr>
          <p:cNvPr id="5" name="Text 2"/>
          <p:cNvSpPr/>
          <p:nvPr/>
        </p:nvSpPr>
        <p:spPr>
          <a:xfrm>
            <a:off x="502920" y="1783080"/>
            <a:ext cx="8046720" cy="1965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E2E8F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1. Menyetujui aplikasi SOC sebagai pengganti Excel untuk pelaporan HSE.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E2E8F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2. Menyetujui Hostinger Unlimited 48 bulan + domain sebesar Rp2.072.592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E2E8F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  (web, SSL, backup file, mailbox terima tahun 1 — sudah termasuk pajak).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E2E8F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3. Mencatat bahwa database (Supabase) dan kirim email (Resend) tagihan terpisah;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E2E8F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  sekarang Free, bukan bagian invoice Hostinger.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E2E8F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4. Menugaskan IT/HSSE mengaktifkan 2FA, SSL, dan role Super Admin / HSE / Viewer.</a:t>
            </a:r>
            <a:endParaRPr lang="en-US" sz="1500" dirty="0"/>
          </a:p>
        </p:txBody>
      </p:sp>
      <p:sp>
        <p:nvSpPr>
          <p:cNvPr id="6" name="Text 3"/>
          <p:cNvSpPr/>
          <p:nvPr/>
        </p:nvSpPr>
        <p:spPr>
          <a:xfrm>
            <a:off x="502920" y="3886200"/>
            <a:ext cx="80467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3702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Skenario A 4 tahun ≈ Rp3,83 juta  ·  vs  risiko laporan hilang, telat, dan tidak teraudit di Excel.</a:t>
            </a:r>
            <a:endParaRPr lang="en-US" sz="1300" dirty="0"/>
          </a:p>
        </p:txBody>
      </p:sp>
      <p:sp>
        <p:nvSpPr>
          <p:cNvPr id="7" name="Text 4"/>
          <p:cNvSpPr/>
          <p:nvPr/>
        </p:nvSpPr>
        <p:spPr>
          <a:xfrm>
            <a:off x="502920" y="4434840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PT. BACT  ·  Batu Ampar Container Terminal  ·  HSSE / IT  ·  2026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19</Slides>
  <Notes>19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19</vt:i4>
      </vt:variant>
    </vt:vector>
  </HeadingPairs>
  <TitlesOfParts>
    <vt:vector size="2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</vt:vector>
  </TitlesOfParts>
  <Company>PT. BACT — Batu Ampar Container Terminal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Pengajuan Hosting, Domain &amp; Upgrade Safety Observation Card</dc:title>
  <dc:subject>PptxGenJS Presentation</dc:subject>
  <dc:creator>PT. BACT HSSE</dc:creator>
  <cp:lastModifiedBy>PT. BACT HSSE</cp:lastModifiedBy>
  <cp:revision>1</cp:revision>
  <dcterms:created xsi:type="dcterms:W3CDTF">2026-09-12T02:03:24Z</dcterms:created>
  <dcterms:modified xsi:type="dcterms:W3CDTF">2026-09-12T02:03:24Z</dcterms:modified>
</cp:coreProperties>
</file>