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96596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344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BACT — Batu Ampar Container Terminal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web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Observation Card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852928"/>
            <a:ext cx="1234440" cy="27432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99923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lapangan sampai laporan Closed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4564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HSSE, Super Admin, dan pelatih lapangan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6177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Dokumen internal  ·  Aplikasi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pihak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F2744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" y="1362456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" y="24048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QR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99816" y="1938528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56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334155"/>
          </a:solidFill>
          <a:ln/>
        </p:spPr>
      </p:sp>
      <p:sp>
        <p:nvSpPr>
          <p:cNvPr id="14" name="Text 11"/>
          <p:cNvSpPr/>
          <p:nvPr/>
        </p:nvSpPr>
        <p:spPr>
          <a:xfrm>
            <a:off x="3410712" y="1362456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24048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Simpan, email,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34456" y="1938528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37021"/>
          </a:solidFill>
          <a:ln/>
        </p:spPr>
      </p:sp>
      <p:sp>
        <p:nvSpPr>
          <p:cNvPr id="18" name="Text 15"/>
          <p:cNvSpPr/>
          <p:nvPr/>
        </p:nvSpPr>
        <p:spPr>
          <a:xfrm>
            <a:off x="6245352" y="1362456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/ Super Admin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45352" y="24048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Closed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310896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hanya mengirim kejadian. Sistem menyimpan dan mengirim email. HSE mengklasifikasi, menugaskan PIC, dan menutup. Super Admin mengatur akun dan daftar email — bukan mengganti HSE di lapangan.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utama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1168" y="9601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F2744"/>
          </a:solidFill>
          <a:ln/>
        </p:spPr>
      </p:sp>
      <p:sp>
        <p:nvSpPr>
          <p:cNvPr id="10" name="Text 7"/>
          <p:cNvSpPr/>
          <p:nvPr/>
        </p:nvSpPr>
        <p:spPr>
          <a:xfrm>
            <a:off x="201168" y="103327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1216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laman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scan QR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1993392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akun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17904" y="1572768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4" name="Shape 11"/>
          <p:cNvSpPr/>
          <p:nvPr/>
        </p:nvSpPr>
        <p:spPr>
          <a:xfrm>
            <a:off x="1682496" y="9601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F2744"/>
          </a:solidFill>
          <a:ln/>
        </p:spPr>
      </p:sp>
      <p:sp>
        <p:nvSpPr>
          <p:cNvPr id="15" name="Text 12"/>
          <p:cNvSpPr/>
          <p:nvPr/>
        </p:nvSpPr>
        <p:spPr>
          <a:xfrm>
            <a:off x="1682496" y="103327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755648" y="1216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form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755648" y="1993392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Nama, lokasi,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deskripsi, foto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999232" y="1572768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9" name="Shape 16"/>
          <p:cNvSpPr/>
          <p:nvPr/>
        </p:nvSpPr>
        <p:spPr>
          <a:xfrm>
            <a:off x="3163824" y="9601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F2744"/>
          </a:solidFill>
          <a:ln/>
        </p:spPr>
      </p:sp>
      <p:sp>
        <p:nvSpPr>
          <p:cNvPr id="20" name="Text 17"/>
          <p:cNvSpPr/>
          <p:nvPr/>
        </p:nvSpPr>
        <p:spPr>
          <a:xfrm>
            <a:off x="3163824" y="103327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36976" y="1216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36976" y="1993392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80560" y="1572768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24" name="Shape 21"/>
          <p:cNvSpPr/>
          <p:nvPr/>
        </p:nvSpPr>
        <p:spPr>
          <a:xfrm>
            <a:off x="4645152" y="9601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F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4645152" y="103327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18304" y="1216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HSE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18304" y="1993392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Baru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HiPo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61888" y="1572768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29" name="Shape 26"/>
          <p:cNvSpPr/>
          <p:nvPr/>
        </p:nvSpPr>
        <p:spPr>
          <a:xfrm>
            <a:off x="6126480" y="9601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F2744"/>
          </a:solidFill>
          <a:ln/>
        </p:spPr>
      </p:sp>
      <p:sp>
        <p:nvSpPr>
          <p:cNvPr id="30" name="Text 27"/>
          <p:cNvSpPr/>
          <p:nvPr/>
        </p:nvSpPr>
        <p:spPr>
          <a:xfrm>
            <a:off x="6126480" y="103327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99632" y="1216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kerja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99632" y="1993392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CAPA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43216" y="1572768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34" name="Shape 31"/>
          <p:cNvSpPr/>
          <p:nvPr/>
        </p:nvSpPr>
        <p:spPr>
          <a:xfrm>
            <a:off x="7607808" y="9601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F2744"/>
          </a:solidFill>
          <a:ln/>
        </p:spPr>
      </p:sp>
      <p:sp>
        <p:nvSpPr>
          <p:cNvPr id="35" name="Text 32"/>
          <p:cNvSpPr/>
          <p:nvPr/>
        </p:nvSpPr>
        <p:spPr>
          <a:xfrm>
            <a:off x="7607808" y="103327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680960" y="1216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680960" y="1993392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Rejected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65760" y="265176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tidak “selesai” saat dikirim. Status awal Open (atau Under Review jika Stop Work). HSE yang mengubah kategori, risiko, PIC, investigasi, dan CAPA. Excel hanya arsip atau import lama — bukan tempat lapor.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Cabang: biasa atau HiPo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8229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F2744"/>
          </a:solidFill>
          <a:ln/>
        </p:spPr>
      </p:sp>
      <p:sp>
        <p:nvSpPr>
          <p:cNvPr id="10" name="Text 7"/>
          <p:cNvSpPr/>
          <p:nvPr/>
        </p:nvSpPr>
        <p:spPr>
          <a:xfrm>
            <a:off x="3319272" y="9509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masuk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19272" y="121615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tersimpan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80560" y="1627632"/>
            <a:ext cx="146304" cy="237744"/>
          </a:xfrm>
          <a:prstGeom prst="downArrow">
            <a:avLst/>
          </a:prstGeom>
          <a:solidFill>
            <a:srgbClr val="F37021"/>
          </a:solidFill>
          <a:ln/>
        </p:spPr>
      </p:sp>
      <p:sp>
        <p:nvSpPr>
          <p:cNvPr id="13" name="Shape 10"/>
          <p:cNvSpPr/>
          <p:nvPr/>
        </p:nvSpPr>
        <p:spPr>
          <a:xfrm>
            <a:off x="3246120" y="1901952"/>
            <a:ext cx="2651760" cy="10515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55848" y="2066544"/>
            <a:ext cx="2432304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Work?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97480" y="233172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6" name="Shape 13"/>
          <p:cNvSpPr/>
          <p:nvPr/>
        </p:nvSpPr>
        <p:spPr>
          <a:xfrm>
            <a:off x="32004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F7A4D"/>
          </a:solidFill>
          <a:ln/>
        </p:spPr>
      </p:sp>
      <p:sp>
        <p:nvSpPr>
          <p:cNvPr id="17" name="Text 14"/>
          <p:cNvSpPr/>
          <p:nvPr/>
        </p:nvSpPr>
        <p:spPr>
          <a:xfrm>
            <a:off x="393192" y="2093976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3192" y="2633472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Open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Laporan Baru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233172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20" name="Shape 17"/>
          <p:cNvSpPr/>
          <p:nvPr/>
        </p:nvSpPr>
        <p:spPr>
          <a:xfrm>
            <a:off x="630936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B42318"/>
          </a:solidFill>
          <a:ln/>
        </p:spPr>
      </p:sp>
      <p:sp>
        <p:nvSpPr>
          <p:cNvPr id="21" name="Text 18"/>
          <p:cNvSpPr/>
          <p:nvPr/>
        </p:nvSpPr>
        <p:spPr>
          <a:xfrm>
            <a:off x="6382512" y="2093976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— HiPo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82512" y="263347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HiPo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324612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 juga bisa muncul kemudian: HSE mengisi risiko High atau kategori Near Miss. Investigasi 5W+1H tidak wajib untuk setiap laporan — HSE yang menandai. HiPo yang lewat 24 jam muncul sebagai eskalasi di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di dashboard HSE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868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94183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4632" y="1124712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" y="1719072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/admin/login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63240" y="141732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868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744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94183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64992" y="1124712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laporan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64992" y="1719072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antrian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0" y="141732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9" name="Shape 16"/>
          <p:cNvSpPr/>
          <p:nvPr/>
        </p:nvSpPr>
        <p:spPr>
          <a:xfrm>
            <a:off x="6172200" y="868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744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94183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45352" y="1124712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45352" y="1719072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+ risiko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60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744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26334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4632" y="2816352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" y="3410712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63240" y="310896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28" name="Shape 25"/>
          <p:cNvSpPr/>
          <p:nvPr/>
        </p:nvSpPr>
        <p:spPr>
          <a:xfrm>
            <a:off x="3291840" y="2560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744"/>
          </a:solidFill>
          <a:ln/>
        </p:spPr>
      </p:sp>
      <p:sp>
        <p:nvSpPr>
          <p:cNvPr id="29" name="Text 26"/>
          <p:cNvSpPr/>
          <p:nvPr/>
        </p:nvSpPr>
        <p:spPr>
          <a:xfrm>
            <a:off x="3291840" y="26334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64992" y="2816352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364992" y="3410712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/ CAPA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943600" y="310896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33" name="Shape 30"/>
          <p:cNvSpPr/>
          <p:nvPr/>
        </p:nvSpPr>
        <p:spPr>
          <a:xfrm>
            <a:off x="6172200" y="2560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744"/>
          </a:solidFill>
          <a:ln/>
        </p:spPr>
      </p:sp>
      <p:sp>
        <p:nvSpPr>
          <p:cNvPr id="34" name="Text 31"/>
          <p:cNvSpPr/>
          <p:nvPr/>
        </p:nvSpPr>
        <p:spPr>
          <a:xfrm>
            <a:off x="6172200" y="26334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245352" y="2816352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45352" y="3410712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040880" y="2148840"/>
            <a:ext cx="146304" cy="237744"/>
          </a:xfrm>
          <a:prstGeom prst="downArrow">
            <a:avLst/>
          </a:prstGeom>
          <a:solidFill>
            <a:srgbClr val="F3702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email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10515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0F2744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124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3192" y="130759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terkirim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3192" y="1993392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import Excel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13432" y="164592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4" name="Shape 11"/>
          <p:cNvSpPr/>
          <p:nvPr/>
        </p:nvSpPr>
        <p:spPr>
          <a:xfrm>
            <a:off x="2514600" y="10515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0F2744"/>
          </a:solidFill>
          <a:ln/>
        </p:spPr>
      </p:sp>
      <p:sp>
        <p:nvSpPr>
          <p:cNvPr id="15" name="Text 12"/>
          <p:cNvSpPr/>
          <p:nvPr/>
        </p:nvSpPr>
        <p:spPr>
          <a:xfrm>
            <a:off x="2514600" y="1124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87752" y="130759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87752" y="1993392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notification_queue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07992" y="164592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19" name="Shape 16"/>
          <p:cNvSpPr/>
          <p:nvPr/>
        </p:nvSpPr>
        <p:spPr>
          <a:xfrm>
            <a:off x="4709160" y="10515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0F2744"/>
          </a:solidFill>
          <a:ln/>
        </p:spPr>
      </p:sp>
      <p:sp>
        <p:nvSpPr>
          <p:cNvPr id="20" name="Text 17"/>
          <p:cNvSpPr/>
          <p:nvPr/>
        </p:nvSpPr>
        <p:spPr>
          <a:xfrm>
            <a:off x="4709160" y="1124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82312" y="130759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82312" y="1993392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Resend, cadangan Brevo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02552" y="1645920"/>
            <a:ext cx="256032" cy="128016"/>
          </a:xfrm>
          <a:prstGeom prst="rightArrow">
            <a:avLst/>
          </a:prstGeom>
          <a:solidFill>
            <a:srgbClr val="F37021"/>
          </a:solidFill>
          <a:ln/>
        </p:spPr>
      </p:sp>
      <p:sp>
        <p:nvSpPr>
          <p:cNvPr id="24" name="Shape 21"/>
          <p:cNvSpPr/>
          <p:nvPr/>
        </p:nvSpPr>
        <p:spPr>
          <a:xfrm>
            <a:off x="6903720" y="10515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0F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1124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76872" y="130759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HSE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76872" y="1993392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Notifications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265176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 historis tidak mengirim email. Daftar penerima hanya Super Admin (menu Notifications). HSE Officer tidak mengatur email. Domain pengirim Resend masih perlu diverifikasi agar tidak bergantung cadangan Brevo.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mengerjakan apa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84124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0F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84124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06040" y="841248"/>
            <a:ext cx="6172200" cy="749808"/>
          </a:xfrm>
          <a:prstGeom prst="roundRect">
            <a:avLst>
              <a:gd name="adj" fmla="val 9756"/>
            </a:avLst>
          </a:prstGeom>
          <a:solidFill>
            <a:srgbClr val="F7F8FA"/>
          </a:solidFill>
          <a:ln/>
        </p:spPr>
      </p:sp>
      <p:sp>
        <p:nvSpPr>
          <p:cNvPr id="12" name="Text 9"/>
          <p:cNvSpPr/>
          <p:nvPr/>
        </p:nvSpPr>
        <p:spPr>
          <a:xfrm>
            <a:off x="2788920" y="84124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form. Tidak login. Tidak melihat dashboard.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170992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0F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70992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606040" y="1709928"/>
            <a:ext cx="6172200" cy="749808"/>
          </a:xfrm>
          <a:prstGeom prst="roundRect">
            <a:avLst>
              <a:gd name="adj" fmla="val 9756"/>
            </a:avLst>
          </a:prstGeom>
          <a:solidFill>
            <a:srgbClr val="F7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2788920" y="170992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Analytics. Selesaikan laporan. Tidak ada Users, Notifications, HSSE Log.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" y="257860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0F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57860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606040" y="2578608"/>
            <a:ext cx="6172200" cy="749808"/>
          </a:xfrm>
          <a:prstGeom prst="roundRect">
            <a:avLst>
              <a:gd name="adj" fmla="val 9756"/>
            </a:avLst>
          </a:prstGeom>
          <a:solidFill>
            <a:srgbClr val="F7F8FA"/>
          </a:solidFill>
          <a:ln/>
        </p:spPr>
      </p:sp>
      <p:sp>
        <p:nvSpPr>
          <p:cNvPr id="20" name="Text 17"/>
          <p:cNvSpPr/>
          <p:nvPr/>
        </p:nvSpPr>
        <p:spPr>
          <a:xfrm>
            <a:off x="2788920" y="257860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dashboard dan Analytics. Tidak mengubah data.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" y="344728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37021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4472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606040" y="3447288"/>
            <a:ext cx="6172200" cy="749808"/>
          </a:xfrm>
          <a:prstGeom prst="roundRect">
            <a:avLst>
              <a:gd name="adj" fmla="val 9756"/>
            </a:avLst>
          </a:prstGeom>
          <a:solidFill>
            <a:srgbClr val="F7F8FA"/>
          </a:solidFill>
          <a:ln/>
        </p:spPr>
      </p:sp>
      <p:sp>
        <p:nvSpPr>
          <p:cNvPr id="24" name="Text 21"/>
          <p:cNvSpPr/>
          <p:nvPr/>
        </p:nvSpPr>
        <p:spPr>
          <a:xfrm>
            <a:off x="2788920" y="34472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milik HSE, plus Users, Notifications, HSSE Log, KPI, import Excel.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live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" y="1316736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pelapor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2267712"/>
            <a:ext cx="3785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bact-safety-observation-modern.vercel.app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7021"/>
          </a:solidFill>
          <a:ln/>
        </p:spPr>
      </p:sp>
      <p:sp>
        <p:nvSpPr>
          <p:cNvPr id="13" name="Text 10"/>
          <p:cNvSpPr/>
          <p:nvPr/>
        </p:nvSpPr>
        <p:spPr>
          <a:xfrm>
            <a:off x="4828032" y="1316736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28032" y="2267712"/>
            <a:ext cx="3785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bact-safety-observation-modern.vercel.app/admin/login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kantor (Hostinger) masih pengajuan. Data laporan tetap di Supabase, bukan di Hostinger. PIC adalah nama departemen yang ditugaskan pada laporan — bukan akun login.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PT. BACT — Batu Ampar Container Terminal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BACT SOC — Alur Web</dc:title>
  <dc:subject>Diagram alur aplikasi Safety Observation Card</dc:subject>
  <dc:creator>PT. BACT HSSE</dc:creator>
  <cp:lastModifiedBy>PT. BACT HSSE</cp:lastModifiedBy>
  <cp:revision>1</cp:revision>
  <dcterms:created xsi:type="dcterms:W3CDTF">2026-09-17T15:25:31Z</dcterms:created>
  <dcterms:modified xsi:type="dcterms:W3CDTF">2026-09-17T15:25:31Z</dcterms:modified>
</cp:coreProperties>
</file>