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F37021"/>
          </a:solidFill>
          <a:ln/>
        </p:spPr>
      </p:sp>
      <p:pic>
        <p:nvPicPr>
          <p:cNvPr id="4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8920" y="594360"/>
            <a:ext cx="3566160" cy="1097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9202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Safety Observation Card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457200" y="251460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Alur Kerja Pelaporan &amp; Tindak Lanjut HSE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306324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— Batu Ampar Container Terminal  ·  An ICTSI Group Company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4160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 ringkas  ·  Klasifikasi HSE  ·  Log HSE  ·  Kelola user  ·  Notifikasi email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Flow Chart alur baru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Dari scan QR sampai Closed — siap dibagikan ke HSE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292608" y="1024128"/>
            <a:ext cx="1572768" cy="749808"/>
          </a:xfrm>
          <a:prstGeom prst="roundRect">
            <a:avLst>
              <a:gd name="adj" fmla="val 8537"/>
            </a:avLst>
          </a:prstGeom>
          <a:solidFill>
            <a:srgbClr val="3B82F6"/>
          </a:solidFill>
          <a:ln/>
        </p:spPr>
      </p:sp>
      <p:sp>
        <p:nvSpPr>
          <p:cNvPr id="9" name="Text 6"/>
          <p:cNvSpPr/>
          <p:nvPr/>
        </p:nvSpPr>
        <p:spPr>
          <a:xfrm>
            <a:off x="292608" y="1024128"/>
            <a:ext cx="157276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Scan QR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 buka web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883664" y="1325880"/>
            <a:ext cx="164592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1" name="Shape 8"/>
          <p:cNvSpPr/>
          <p:nvPr/>
        </p:nvSpPr>
        <p:spPr>
          <a:xfrm>
            <a:off x="2066544" y="1024128"/>
            <a:ext cx="1572768" cy="749808"/>
          </a:xfrm>
          <a:prstGeom prst="roundRect">
            <a:avLst>
              <a:gd name="adj" fmla="val 8537"/>
            </a:avLst>
          </a:prstGeom>
          <a:solidFill>
            <a:srgbClr val="6366F1"/>
          </a:solidFill>
          <a:ln/>
        </p:spPr>
      </p:sp>
      <p:sp>
        <p:nvSpPr>
          <p:cNvPr id="12" name="Text 9"/>
          <p:cNvSpPr/>
          <p:nvPr/>
        </p:nvSpPr>
        <p:spPr>
          <a:xfrm>
            <a:off x="2066544" y="1024128"/>
            <a:ext cx="157276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Isi form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pelapor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657600" y="1325880"/>
            <a:ext cx="164592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4" name="Shape 11"/>
          <p:cNvSpPr/>
          <p:nvPr/>
        </p:nvSpPr>
        <p:spPr>
          <a:xfrm>
            <a:off x="3840480" y="1024128"/>
            <a:ext cx="1572768" cy="749808"/>
          </a:xfrm>
          <a:prstGeom prst="roundRect">
            <a:avLst>
              <a:gd name="adj" fmla="val 8537"/>
            </a:avLst>
          </a:prstGeom>
          <a:solidFill>
            <a:srgbClr val="F37021"/>
          </a:solidFill>
          <a:ln/>
        </p:spPr>
      </p:sp>
      <p:sp>
        <p:nvSpPr>
          <p:cNvPr id="15" name="Text 12"/>
          <p:cNvSpPr/>
          <p:nvPr/>
        </p:nvSpPr>
        <p:spPr>
          <a:xfrm>
            <a:off x="3840480" y="1024128"/>
            <a:ext cx="157276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Kirim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laporan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431536" y="1325880"/>
            <a:ext cx="164592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7" name="Shape 14"/>
          <p:cNvSpPr/>
          <p:nvPr/>
        </p:nvSpPr>
        <p:spPr>
          <a:xfrm>
            <a:off x="5614416" y="1024128"/>
            <a:ext cx="1572768" cy="749808"/>
          </a:xfrm>
          <a:prstGeom prst="roundRect">
            <a:avLst>
              <a:gd name="adj" fmla="val 8537"/>
            </a:avLst>
          </a:prstGeom>
          <a:solidFill>
            <a:srgbClr val="F59E0B"/>
          </a:solidFill>
          <a:ln/>
        </p:spPr>
      </p:sp>
      <p:sp>
        <p:nvSpPr>
          <p:cNvPr id="18" name="Text 15"/>
          <p:cNvSpPr/>
          <p:nvPr/>
        </p:nvSpPr>
        <p:spPr>
          <a:xfrm>
            <a:off x="5614416" y="1024128"/>
            <a:ext cx="157276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HSE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klasifikasi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7205472" y="1325880"/>
            <a:ext cx="164592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20" name="Shape 17"/>
          <p:cNvSpPr/>
          <p:nvPr/>
        </p:nvSpPr>
        <p:spPr>
          <a:xfrm>
            <a:off x="7388352" y="1024128"/>
            <a:ext cx="1572768" cy="749808"/>
          </a:xfrm>
          <a:prstGeom prst="roundRect">
            <a:avLst>
              <a:gd name="adj" fmla="val 8537"/>
            </a:avLst>
          </a:prstGeom>
          <a:solidFill>
            <a:srgbClr val="10B981"/>
          </a:solidFill>
          <a:ln/>
        </p:spPr>
      </p:sp>
      <p:sp>
        <p:nvSpPr>
          <p:cNvPr id="21" name="Text 18"/>
          <p:cNvSpPr/>
          <p:nvPr/>
        </p:nvSpPr>
        <p:spPr>
          <a:xfrm>
            <a:off x="7388352" y="1024128"/>
            <a:ext cx="157276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Assign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PIC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20040" y="1901952"/>
            <a:ext cx="8503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Cabang setelah klasifikasi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292608" y="2194560"/>
            <a:ext cx="4160520" cy="1234440"/>
          </a:xfrm>
          <a:prstGeom prst="roundRect">
            <a:avLst>
              <a:gd name="adj" fmla="val 5926"/>
            </a:avLst>
          </a:prstGeom>
          <a:solidFill>
            <a:srgbClr val="334155"/>
          </a:solidFill>
          <a:ln/>
        </p:spPr>
      </p:sp>
      <p:sp>
        <p:nvSpPr>
          <p:cNvPr id="24" name="Text 21"/>
          <p:cNvSpPr/>
          <p:nvPr/>
        </p:nvSpPr>
        <p:spPr>
          <a:xfrm>
            <a:off x="438912" y="2267712"/>
            <a:ext cx="3886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Kasus biasa / Low–Medium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438912" y="2542032"/>
            <a:ext cx="3886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PDF Notice → tindakan &amp; CAPA → verifikasi HSE → Closed.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Tidak semua SOC wajib investigasi.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690872" y="2194560"/>
            <a:ext cx="4160520" cy="1234440"/>
          </a:xfrm>
          <a:prstGeom prst="roundRect">
            <a:avLst>
              <a:gd name="adj" fmla="val 5926"/>
            </a:avLst>
          </a:prstGeom>
          <a:solidFill>
            <a:srgbClr val="EF4444"/>
          </a:solidFill>
          <a:ln/>
        </p:spPr>
      </p:sp>
      <p:sp>
        <p:nvSpPr>
          <p:cNvPr id="27" name="Text 24"/>
          <p:cNvSpPr/>
          <p:nvPr/>
        </p:nvSpPr>
        <p:spPr>
          <a:xfrm>
            <a:off x="4837176" y="2267712"/>
            <a:ext cx="3886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HiPo / High / Near Miss / Stop Work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4837176" y="2542032"/>
            <a:ext cx="3886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Centang lanjut investigasi → 5W+1H → PDF Investigasi → CAPA → Closed.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292608" y="3566160"/>
            <a:ext cx="2084832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02336" y="36941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31" name="Text 28"/>
          <p:cNvSpPr/>
          <p:nvPr/>
        </p:nvSpPr>
        <p:spPr>
          <a:xfrm>
            <a:off x="749808" y="3657600"/>
            <a:ext cx="1536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PDF SOC (Notice)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402336" y="4005072"/>
            <a:ext cx="1865376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Surat bilingual ke PIC / manajemen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2487168" y="3566160"/>
            <a:ext cx="2084832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2596896" y="36941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59E0B"/>
          </a:solidFill>
          <a:ln/>
        </p:spPr>
      </p:sp>
      <p:sp>
        <p:nvSpPr>
          <p:cNvPr id="35" name="Text 32"/>
          <p:cNvSpPr/>
          <p:nvPr/>
        </p:nvSpPr>
        <p:spPr>
          <a:xfrm>
            <a:off x="2944368" y="3657600"/>
            <a:ext cx="1536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PDF Investigasi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2596896" y="4005072"/>
            <a:ext cx="1865376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Hanya jika ditandai investigasi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4681728" y="3566160"/>
            <a:ext cx="2084832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791456" y="36941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39" name="Text 36"/>
          <p:cNvSpPr/>
          <p:nvPr/>
        </p:nvSpPr>
        <p:spPr>
          <a:xfrm>
            <a:off x="5138928" y="3657600"/>
            <a:ext cx="1536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Export Excel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4791456" y="4005072"/>
            <a:ext cx="1865376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Rekap laporan, kolom rapi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6876288" y="3566160"/>
            <a:ext cx="2084832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6986016" y="36941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6366F1"/>
          </a:solidFill>
          <a:ln/>
        </p:spPr>
      </p:sp>
      <p:sp>
        <p:nvSpPr>
          <p:cNvPr id="43" name="Text 40"/>
          <p:cNvSpPr/>
          <p:nvPr/>
        </p:nvSpPr>
        <p:spPr>
          <a:xfrm>
            <a:off x="7333488" y="3657600"/>
            <a:ext cx="1536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Notifikasi email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6986016" y="4005072"/>
            <a:ext cx="1865376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Laporan baru &amp; HiPo ke HSE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Mengapa &amp; untuk apa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Digitalisasi observasi keselamatan di area terminal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20040" y="1024128"/>
            <a:ext cx="411480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114300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Masalah lama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02920" y="1508760"/>
            <a:ext cx="374904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Pelaporan kertas / chat tidak terpusat.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 lapangan terlalu panjang, orang malas lapor.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Kategori &amp; risiko diisi pelapor — hasilnya tidak konsisten.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Follow-up PIC sulit dilacak sampai closed.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709160" y="1024128"/>
            <a:ext cx="4114800" cy="3520440"/>
          </a:xfrm>
          <a:prstGeom prst="roundRect">
            <a:avLst>
              <a:gd name="adj" fmla="val 2597"/>
            </a:avLst>
          </a:prstGeom>
          <a:solidFill>
            <a:srgbClr val="1A1A1A"/>
          </a:solidFill>
          <a:ln/>
        </p:spPr>
      </p:sp>
      <p:sp>
        <p:nvSpPr>
          <p:cNvPr id="12" name="Text 9"/>
          <p:cNvSpPr/>
          <p:nvPr/>
        </p:nvSpPr>
        <p:spPr>
          <a:xfrm>
            <a:off x="4892040" y="114300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Yang diselesaikan aplikasi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892040" y="1508760"/>
            <a:ext cx="374904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Lapor dari HP, tanpa login, lewat QR.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 bilingual ID + EN: identitas, lokasi, cerita, foto.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Nama karyawan BACT terisi dari data HR.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HSE yang tentukan kategori &amp; risiko di dashboard.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Siapa yang memakai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Satu aplikasi, dua pintu: publik &amp; login HSE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20040" y="1097280"/>
            <a:ext cx="2011680" cy="214884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29768" y="122529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18872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Pelapor BACT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29768" y="1536192"/>
            <a:ext cx="1792224" cy="1618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Ketik nama → pilih dari daftar. Departemen &amp; ID otomatis.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468880" y="1097280"/>
            <a:ext cx="2011680" cy="214884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578608" y="122529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6366F1"/>
          </a:solidFill>
          <a:ln/>
        </p:spPr>
      </p:sp>
      <p:sp>
        <p:nvSpPr>
          <p:cNvPr id="14" name="Text 11"/>
          <p:cNvSpPr/>
          <p:nvPr/>
        </p:nvSpPr>
        <p:spPr>
          <a:xfrm>
            <a:off x="2926080" y="118872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Vendor / visitor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578608" y="1536192"/>
            <a:ext cx="1792224" cy="1618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Pilih perusahaan, isi nama &amp; departemen manual.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617720" y="1097280"/>
            <a:ext cx="2011680" cy="214884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727448" y="122529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18" name="Text 15"/>
          <p:cNvSpPr/>
          <p:nvPr/>
        </p:nvSpPr>
        <p:spPr>
          <a:xfrm>
            <a:off x="5074920" y="118872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HSE Officer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727448" y="1536192"/>
            <a:ext cx="1792224" cy="1618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Klasifikasi kategori/risiko, investigasi, CAPA, email.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766560" y="1097280"/>
            <a:ext cx="2011680" cy="214884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876288" y="122529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8B5CF6"/>
          </a:solidFill>
          <a:ln/>
        </p:spPr>
      </p:sp>
      <p:sp>
        <p:nvSpPr>
          <p:cNvPr id="22" name="Text 19"/>
          <p:cNvSpPr/>
          <p:nvPr/>
        </p:nvSpPr>
        <p:spPr>
          <a:xfrm>
            <a:off x="7223760" y="118872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Super Admin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876288" y="1536192"/>
            <a:ext cx="1792224" cy="1618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Semua menu HSE + kelola akun, Log HSE, pantau performa.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365760" y="34747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Pelapor tidak mengisi kategori, risiko, atau IOGP. Itu wewenang HSE setelah laporan masuk.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365760" y="393192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Lookup otomatis: 173 karyawan BACT. Security / vendor tetap input manual.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 lapangan (tanpa login)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bact-safety-observation-modern.vercel.app  ·  bilingual Indonesia + English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2004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2976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Bilingual ID + EN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2976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Label Indonesia utama, ada terjemahan Inggris di bawahnya.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0040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1012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14" name="Text 11"/>
          <p:cNvSpPr/>
          <p:nvPr/>
        </p:nvSpPr>
        <p:spPr>
          <a:xfrm>
            <a:off x="365760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Nama &amp; ID BACT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331012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Ketik nama, pilih opsi. Departemen + ID BACT-xxxx terisi.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08076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048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59E0B"/>
          </a:solidFill>
          <a:ln/>
        </p:spPr>
      </p:sp>
      <p:sp>
        <p:nvSpPr>
          <p:cNvPr id="18" name="Text 15"/>
          <p:cNvSpPr/>
          <p:nvPr/>
        </p:nvSpPr>
        <p:spPr>
          <a:xfrm>
            <a:off x="653796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Lokasi kejadian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19048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Pilih dari daftar area terminal (Workshop, CY, Gate, dll).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2004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976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6366F1"/>
          </a:solidFill>
          <a:ln/>
        </p:spPr>
      </p:sp>
      <p:sp>
        <p:nvSpPr>
          <p:cNvPr id="22" name="Text 19"/>
          <p:cNvSpPr/>
          <p:nvPr/>
        </p:nvSpPr>
        <p:spPr>
          <a:xfrm>
            <a:off x="77724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Deskripsi + foto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2976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Ceritakan kejadian. Bisa beberapa foto bukti.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320040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31012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EF4444"/>
          </a:solidFill>
          <a:ln/>
        </p:spPr>
      </p:sp>
      <p:sp>
        <p:nvSpPr>
          <p:cNvPr id="26" name="Text 23"/>
          <p:cNvSpPr/>
          <p:nvPr/>
        </p:nvSpPr>
        <p:spPr>
          <a:xfrm>
            <a:off x="365760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Stop Work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331012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Centang jika pekerjaan sudah dihentikan. Jadi HiPo.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608076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9048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30" name="Text 27"/>
          <p:cNvSpPr/>
          <p:nvPr/>
        </p:nvSpPr>
        <p:spPr>
          <a:xfrm>
            <a:off x="653796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Offline (PWA)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619048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Bisa di-install. Offline tersimpan, sync otomatis.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Alur pelapor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Dari scan QR sampai HSE mendapat email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274320" y="1417320"/>
            <a:ext cx="1280160" cy="868680"/>
          </a:xfrm>
          <a:prstGeom prst="roundRect">
            <a:avLst>
              <a:gd name="adj" fmla="val 7368"/>
            </a:avLst>
          </a:prstGeom>
          <a:solidFill>
            <a:srgbClr val="3B82F6"/>
          </a:solidFill>
          <a:ln/>
        </p:spPr>
      </p:sp>
      <p:sp>
        <p:nvSpPr>
          <p:cNvPr id="9" name="Text 6"/>
          <p:cNvSpPr/>
          <p:nvPr/>
        </p:nvSpPr>
        <p:spPr>
          <a:xfrm>
            <a:off x="274320" y="1417320"/>
            <a:ext cx="1280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QR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 buka web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572768" y="1764792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1" name="Shape 8"/>
          <p:cNvSpPr/>
          <p:nvPr/>
        </p:nvSpPr>
        <p:spPr>
          <a:xfrm>
            <a:off x="1737360" y="1417320"/>
            <a:ext cx="1280160" cy="868680"/>
          </a:xfrm>
          <a:prstGeom prst="roundRect">
            <a:avLst>
              <a:gd name="adj" fmla="val 7368"/>
            </a:avLst>
          </a:prstGeom>
          <a:solidFill>
            <a:srgbClr val="6366F1"/>
          </a:solidFill>
          <a:ln/>
        </p:spPr>
      </p:sp>
      <p:sp>
        <p:nvSpPr>
          <p:cNvPr id="12" name="Text 9"/>
          <p:cNvSpPr/>
          <p:nvPr/>
        </p:nvSpPr>
        <p:spPr>
          <a:xfrm>
            <a:off x="1737360" y="1417320"/>
            <a:ext cx="1280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Pilih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perusahaan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035808" y="1764792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4" name="Shape 11"/>
          <p:cNvSpPr/>
          <p:nvPr/>
        </p:nvSpPr>
        <p:spPr>
          <a:xfrm>
            <a:off x="3200400" y="1417320"/>
            <a:ext cx="1280160" cy="868680"/>
          </a:xfrm>
          <a:prstGeom prst="roundRect">
            <a:avLst>
              <a:gd name="adj" fmla="val 7368"/>
            </a:avLst>
          </a:prstGeom>
          <a:solidFill>
            <a:srgbClr val="F37021"/>
          </a:solidFill>
          <a:ln/>
        </p:spPr>
      </p:sp>
      <p:sp>
        <p:nvSpPr>
          <p:cNvPr id="15" name="Text 12"/>
          <p:cNvSpPr/>
          <p:nvPr/>
        </p:nvSpPr>
        <p:spPr>
          <a:xfrm>
            <a:off x="3200400" y="1417320"/>
            <a:ext cx="1280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Isi nama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lokasi + foto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498848" y="1764792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7" name="Shape 14"/>
          <p:cNvSpPr/>
          <p:nvPr/>
        </p:nvSpPr>
        <p:spPr>
          <a:xfrm>
            <a:off x="4663440" y="1417320"/>
            <a:ext cx="1280160" cy="868680"/>
          </a:xfrm>
          <a:prstGeom prst="roundRect">
            <a:avLst>
              <a:gd name="adj" fmla="val 7368"/>
            </a:avLst>
          </a:prstGeom>
          <a:solidFill>
            <a:srgbClr val="F59E0B"/>
          </a:solidFill>
          <a:ln/>
        </p:spPr>
      </p:sp>
      <p:sp>
        <p:nvSpPr>
          <p:cNvPr id="18" name="Text 15"/>
          <p:cNvSpPr/>
          <p:nvPr/>
        </p:nvSpPr>
        <p:spPr>
          <a:xfrm>
            <a:off x="4663440" y="1417320"/>
            <a:ext cx="1280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Kirim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laporan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961888" y="1764792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20" name="Shape 17"/>
          <p:cNvSpPr/>
          <p:nvPr/>
        </p:nvSpPr>
        <p:spPr>
          <a:xfrm>
            <a:off x="6126480" y="1417320"/>
            <a:ext cx="1280160" cy="868680"/>
          </a:xfrm>
          <a:prstGeom prst="roundRect">
            <a:avLst>
              <a:gd name="adj" fmla="val 7368"/>
            </a:avLst>
          </a:prstGeom>
          <a:solidFill>
            <a:srgbClr val="8B5CF6"/>
          </a:solidFill>
          <a:ln/>
        </p:spPr>
      </p:sp>
      <p:sp>
        <p:nvSpPr>
          <p:cNvPr id="21" name="Text 18"/>
          <p:cNvSpPr/>
          <p:nvPr/>
        </p:nvSpPr>
        <p:spPr>
          <a:xfrm>
            <a:off x="6126480" y="1417320"/>
            <a:ext cx="1280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Simpan DB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Open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424928" y="1764792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23" name="Shape 20"/>
          <p:cNvSpPr/>
          <p:nvPr/>
        </p:nvSpPr>
        <p:spPr>
          <a:xfrm>
            <a:off x="7589520" y="1417320"/>
            <a:ext cx="1280160" cy="868680"/>
          </a:xfrm>
          <a:prstGeom prst="roundRect">
            <a:avLst>
              <a:gd name="adj" fmla="val 7368"/>
            </a:avLst>
          </a:prstGeom>
          <a:solidFill>
            <a:srgbClr val="10B981"/>
          </a:solidFill>
          <a:ln/>
        </p:spPr>
      </p:sp>
      <p:sp>
        <p:nvSpPr>
          <p:cNvPr id="24" name="Text 21"/>
          <p:cNvSpPr/>
          <p:nvPr/>
        </p:nvSpPr>
        <p:spPr>
          <a:xfrm>
            <a:off x="7589520" y="1417320"/>
            <a:ext cx="1280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Email HSE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banner admin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365760" y="25146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Laporan masuk sebagai Belum diklasifikasi. Pelapor tidak diminta pilih kategori atau risiko.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320040" y="3017520"/>
            <a:ext cx="8503920" cy="1417320"/>
          </a:xfrm>
          <a:prstGeom prst="roundRect">
            <a:avLst>
              <a:gd name="adj" fmla="val 5161"/>
            </a:avLst>
          </a:prstGeom>
          <a:solidFill>
            <a:srgbClr val="1A1A1A"/>
          </a:solidFill>
          <a:ln/>
        </p:spPr>
      </p:sp>
      <p:sp>
        <p:nvSpPr>
          <p:cNvPr id="27" name="Text 24"/>
          <p:cNvSpPr/>
          <p:nvPr/>
        </p:nvSpPr>
        <p:spPr>
          <a:xfrm>
            <a:off x="502920" y="3182112"/>
            <a:ext cx="81381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Kalau HP offline: laporan disimpan di perangkat, terkirim sendiri saat sinyal kembali.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Karyawan BACT: pilih nama dari daftar HR. Vendor: isi nama sendiri.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HSE dapat email + laporan muncul di dashboard untuk diklasifikasi.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Klasifikasi oleh HSE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Kategori &amp; risiko ditentukan di dashboard, bukan di form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274320" y="1143000"/>
            <a:ext cx="1280160" cy="822960"/>
          </a:xfrm>
          <a:prstGeom prst="roundRect">
            <a:avLst>
              <a:gd name="adj" fmla="val 7778"/>
            </a:avLst>
          </a:prstGeom>
          <a:solidFill>
            <a:srgbClr val="64748B"/>
          </a:solidFill>
          <a:ln/>
        </p:spPr>
      </p:sp>
      <p:sp>
        <p:nvSpPr>
          <p:cNvPr id="9" name="Text 6"/>
          <p:cNvSpPr/>
          <p:nvPr/>
        </p:nvSpPr>
        <p:spPr>
          <a:xfrm>
            <a:off x="274320" y="1143000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Laporan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masuk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572768" y="1463040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1" name="Shape 8"/>
          <p:cNvSpPr/>
          <p:nvPr/>
        </p:nvSpPr>
        <p:spPr>
          <a:xfrm>
            <a:off x="1737360" y="1143000"/>
            <a:ext cx="1280160" cy="822960"/>
          </a:xfrm>
          <a:prstGeom prst="roundRect">
            <a:avLst>
              <a:gd name="adj" fmla="val 7778"/>
            </a:avLst>
          </a:prstGeom>
          <a:solidFill>
            <a:srgbClr val="F59E0B"/>
          </a:solidFill>
          <a:ln/>
        </p:spPr>
      </p:sp>
      <p:sp>
        <p:nvSpPr>
          <p:cNvPr id="12" name="Text 9"/>
          <p:cNvSpPr/>
          <p:nvPr/>
        </p:nvSpPr>
        <p:spPr>
          <a:xfrm>
            <a:off x="1737360" y="1143000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Belum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diklasifikasi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035808" y="1463040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4" name="Shape 11"/>
          <p:cNvSpPr/>
          <p:nvPr/>
        </p:nvSpPr>
        <p:spPr>
          <a:xfrm>
            <a:off x="3200400" y="1143000"/>
            <a:ext cx="1280160" cy="822960"/>
          </a:xfrm>
          <a:prstGeom prst="roundRect">
            <a:avLst>
              <a:gd name="adj" fmla="val 7778"/>
            </a:avLst>
          </a:prstGeom>
          <a:solidFill>
            <a:srgbClr val="3B82F6"/>
          </a:solidFill>
          <a:ln/>
        </p:spPr>
      </p:sp>
      <p:sp>
        <p:nvSpPr>
          <p:cNvPr id="15" name="Text 12"/>
          <p:cNvSpPr/>
          <p:nvPr/>
        </p:nvSpPr>
        <p:spPr>
          <a:xfrm>
            <a:off x="3200400" y="1143000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HSE buka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detail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498848" y="1463040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7" name="Shape 14"/>
          <p:cNvSpPr/>
          <p:nvPr/>
        </p:nvSpPr>
        <p:spPr>
          <a:xfrm>
            <a:off x="4663440" y="1143000"/>
            <a:ext cx="1280160" cy="822960"/>
          </a:xfrm>
          <a:prstGeom prst="roundRect">
            <a:avLst>
              <a:gd name="adj" fmla="val 7778"/>
            </a:avLst>
          </a:prstGeom>
          <a:solidFill>
            <a:srgbClr val="F37021"/>
          </a:solidFill>
          <a:ln/>
        </p:spPr>
      </p:sp>
      <p:sp>
        <p:nvSpPr>
          <p:cNvPr id="18" name="Text 15"/>
          <p:cNvSpPr/>
          <p:nvPr/>
        </p:nvSpPr>
        <p:spPr>
          <a:xfrm>
            <a:off x="4663440" y="1143000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Isi kategori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&amp; risiko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961888" y="1463040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20" name="Shape 17"/>
          <p:cNvSpPr/>
          <p:nvPr/>
        </p:nvSpPr>
        <p:spPr>
          <a:xfrm>
            <a:off x="6126480" y="1143000"/>
            <a:ext cx="1280160" cy="822960"/>
          </a:xfrm>
          <a:prstGeom prst="roundRect">
            <a:avLst>
              <a:gd name="adj" fmla="val 7778"/>
            </a:avLst>
          </a:prstGeom>
          <a:solidFill>
            <a:srgbClr val="EF4444"/>
          </a:solidFill>
          <a:ln/>
        </p:spPr>
      </p:sp>
      <p:sp>
        <p:nvSpPr>
          <p:cNvPr id="21" name="Text 18"/>
          <p:cNvSpPr/>
          <p:nvPr/>
        </p:nvSpPr>
        <p:spPr>
          <a:xfrm>
            <a:off x="6126480" y="1143000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HiPo jika High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 Near Miss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424928" y="1463040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23" name="Shape 20"/>
          <p:cNvSpPr/>
          <p:nvPr/>
        </p:nvSpPr>
        <p:spPr>
          <a:xfrm>
            <a:off x="7589520" y="1143000"/>
            <a:ext cx="1280160" cy="822960"/>
          </a:xfrm>
          <a:prstGeom prst="roundRect">
            <a:avLst>
              <a:gd name="adj" fmla="val 7778"/>
            </a:avLst>
          </a:prstGeom>
          <a:solidFill>
            <a:srgbClr val="10B981"/>
          </a:solidFill>
          <a:ln/>
        </p:spPr>
      </p:sp>
      <p:sp>
        <p:nvSpPr>
          <p:cNvPr id="24" name="Text 21"/>
          <p:cNvSpPr/>
          <p:nvPr/>
        </p:nvSpPr>
        <p:spPr>
          <a:xfrm>
            <a:off x="7589520" y="1143000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Lanjut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investigasi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320040" y="2240280"/>
            <a:ext cx="27432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29768" y="236829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27" name="Text 24"/>
          <p:cNvSpPr/>
          <p:nvPr/>
        </p:nvSpPr>
        <p:spPr>
          <a:xfrm>
            <a:off x="777240" y="233172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Kategori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429768" y="2679192"/>
            <a:ext cx="2523744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Unsafe Act · Unsafe Condition · Near Miss · Positive Observation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3200400" y="2240280"/>
            <a:ext cx="27432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310128" y="236829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31" name="Text 28"/>
          <p:cNvSpPr/>
          <p:nvPr/>
        </p:nvSpPr>
        <p:spPr>
          <a:xfrm>
            <a:off x="3657600" y="233172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Risiko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3310128" y="2679192"/>
            <a:ext cx="2523744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Low · Medium · High — diisi HSE setelah baca deskripsi &amp; foto.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6080760" y="2240280"/>
            <a:ext cx="27432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190488" y="236829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EF4444"/>
          </a:solidFill>
          <a:ln/>
        </p:spPr>
      </p:sp>
      <p:sp>
        <p:nvSpPr>
          <p:cNvPr id="35" name="Text 32"/>
          <p:cNvSpPr/>
          <p:nvPr/>
        </p:nvSpPr>
        <p:spPr>
          <a:xfrm>
            <a:off x="6537960" y="233172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HiPo otomatis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6190488" y="2679192"/>
            <a:ext cx="2523744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Stop Work (dari pelapor), atau High / Near Miss (dari HSE).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 HSE (Command Center)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/admin  ·  login email &amp; password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2004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2976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Traffic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2976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 English. Kartu total, aktif, HiPo, closed + grafik 14 hari. Tema gelap/terang.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0040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1012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59E0B"/>
          </a:solidFill>
          <a:ln/>
        </p:spPr>
      </p:sp>
      <p:sp>
        <p:nvSpPr>
          <p:cNvPr id="14" name="Text 11"/>
          <p:cNvSpPr/>
          <p:nvPr/>
        </p:nvSpPr>
        <p:spPr>
          <a:xfrm>
            <a:off x="365760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Unclassified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331012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Filter antrian laporan yang menunggu HSE isi kategori/risiko.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08076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048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18" name="Text 15"/>
          <p:cNvSpPr/>
          <p:nvPr/>
        </p:nvSpPr>
        <p:spPr>
          <a:xfrm>
            <a:off x="653796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 detail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19048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Kategori, risiko, perihal PDF, centang tindakan, assign PIC (departemen), status, foto.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2004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976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6366F1"/>
          </a:solidFill>
          <a:ln/>
        </p:spPr>
      </p:sp>
      <p:sp>
        <p:nvSpPr>
          <p:cNvPr id="22" name="Text 19"/>
          <p:cNvSpPr/>
          <p:nvPr/>
        </p:nvSpPr>
        <p:spPr>
          <a:xfrm>
            <a:off x="77724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Analytics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2976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Weekly &amp; Monthly Report: pilih tanggal dari–sampai, export Excel. Import Excel/CSV lama.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320040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31012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26" name="Text 23"/>
          <p:cNvSpPr/>
          <p:nvPr/>
        </p:nvSpPr>
        <p:spPr>
          <a:xfrm>
            <a:off x="365760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HSE Log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331012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Grafik tracking siapa yang aktif menyelesaikan SOC (ringan–investigasi). Super Admin.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608076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9048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8B5CF6"/>
          </a:solidFill>
          <a:ln/>
        </p:spPr>
      </p:sp>
      <p:sp>
        <p:nvSpPr>
          <p:cNvPr id="30" name="Text 27"/>
          <p:cNvSpPr/>
          <p:nvPr/>
        </p:nvSpPr>
        <p:spPr>
          <a:xfrm>
            <a:off x="653796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Users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619048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Super Admin / HSE Officer / Viewer. Tambah akun, aktifkan/nonaktifkan, ganti password.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Alur tindak lanjut HSE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Klasifikasi dulu, baru investigasi · CAPA · closed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274320" y="1051560"/>
            <a:ext cx="1280160" cy="640080"/>
          </a:xfrm>
          <a:prstGeom prst="roundRect">
            <a:avLst>
              <a:gd name="adj" fmla="val 10000"/>
            </a:avLst>
          </a:prstGeom>
          <a:solidFill>
            <a:srgbClr val="3B82F6"/>
          </a:solidFill>
          <a:ln/>
        </p:spPr>
      </p:sp>
      <p:sp>
        <p:nvSpPr>
          <p:cNvPr id="9" name="Text 6"/>
          <p:cNvSpPr/>
          <p:nvPr/>
        </p:nvSpPr>
        <p:spPr>
          <a:xfrm>
            <a:off x="274320" y="105156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572768" y="1298448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1" name="Shape 8"/>
          <p:cNvSpPr/>
          <p:nvPr/>
        </p:nvSpPr>
        <p:spPr>
          <a:xfrm>
            <a:off x="1737360" y="1051560"/>
            <a:ext cx="1280160" cy="640080"/>
          </a:xfrm>
          <a:prstGeom prst="roundRect">
            <a:avLst>
              <a:gd name="adj" fmla="val 10000"/>
            </a:avLst>
          </a:prstGeom>
          <a:solidFill>
            <a:srgbClr val="F37021"/>
          </a:solidFill>
          <a:ln/>
        </p:spPr>
      </p:sp>
      <p:sp>
        <p:nvSpPr>
          <p:cNvPr id="12" name="Text 9"/>
          <p:cNvSpPr/>
          <p:nvPr/>
        </p:nvSpPr>
        <p:spPr>
          <a:xfrm>
            <a:off x="1737360" y="105156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Under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035808" y="1298448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4" name="Shape 11"/>
          <p:cNvSpPr/>
          <p:nvPr/>
        </p:nvSpPr>
        <p:spPr>
          <a:xfrm>
            <a:off x="3200400" y="1051560"/>
            <a:ext cx="1280160" cy="640080"/>
          </a:xfrm>
          <a:prstGeom prst="roundRect">
            <a:avLst>
              <a:gd name="adj" fmla="val 10000"/>
            </a:avLst>
          </a:prstGeom>
          <a:solidFill>
            <a:srgbClr val="F59E0B"/>
          </a:solidFill>
          <a:ln/>
        </p:spPr>
      </p:sp>
      <p:sp>
        <p:nvSpPr>
          <p:cNvPr id="15" name="Text 12"/>
          <p:cNvSpPr/>
          <p:nvPr/>
        </p:nvSpPr>
        <p:spPr>
          <a:xfrm>
            <a:off x="3200400" y="105156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Progress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498848" y="1298448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7" name="Shape 14"/>
          <p:cNvSpPr/>
          <p:nvPr/>
        </p:nvSpPr>
        <p:spPr>
          <a:xfrm>
            <a:off x="4663440" y="1051560"/>
            <a:ext cx="1280160" cy="640080"/>
          </a:xfrm>
          <a:prstGeom prst="roundRect">
            <a:avLst>
              <a:gd name="adj" fmla="val 10000"/>
            </a:avLst>
          </a:prstGeom>
          <a:solidFill>
            <a:srgbClr val="8B5CF6"/>
          </a:solidFill>
          <a:ln/>
        </p:spPr>
      </p:sp>
      <p:sp>
        <p:nvSpPr>
          <p:cNvPr id="18" name="Text 15"/>
          <p:cNvSpPr/>
          <p:nvPr/>
        </p:nvSpPr>
        <p:spPr>
          <a:xfrm>
            <a:off x="4663440" y="105156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Pending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Verify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961888" y="1298448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20" name="Shape 17"/>
          <p:cNvSpPr/>
          <p:nvPr/>
        </p:nvSpPr>
        <p:spPr>
          <a:xfrm>
            <a:off x="6126480" y="1051560"/>
            <a:ext cx="1280160" cy="640080"/>
          </a:xfrm>
          <a:prstGeom prst="roundRect">
            <a:avLst>
              <a:gd name="adj" fmla="val 10000"/>
            </a:avLst>
          </a:prstGeom>
          <a:solidFill>
            <a:srgbClr val="10B981"/>
          </a:solidFill>
          <a:ln/>
        </p:spPr>
      </p:sp>
      <p:sp>
        <p:nvSpPr>
          <p:cNvPr id="21" name="Text 18"/>
          <p:cNvSpPr/>
          <p:nvPr/>
        </p:nvSpPr>
        <p:spPr>
          <a:xfrm>
            <a:off x="6126480" y="105156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Closed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424928" y="1298448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23" name="Shape 20"/>
          <p:cNvSpPr/>
          <p:nvPr/>
        </p:nvSpPr>
        <p:spPr>
          <a:xfrm>
            <a:off x="7589520" y="1051560"/>
            <a:ext cx="1280160" cy="640080"/>
          </a:xfrm>
          <a:prstGeom prst="roundRect">
            <a:avLst>
              <a:gd name="adj" fmla="val 10000"/>
            </a:avLst>
          </a:prstGeom>
          <a:solidFill>
            <a:srgbClr val="64748B"/>
          </a:solidFill>
          <a:ln/>
        </p:spPr>
      </p:sp>
      <p:sp>
        <p:nvSpPr>
          <p:cNvPr id="24" name="Text 21"/>
          <p:cNvSpPr/>
          <p:nvPr/>
        </p:nvSpPr>
        <p:spPr>
          <a:xfrm>
            <a:off x="7589520" y="105156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Rejected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256032" y="1965960"/>
            <a:ext cx="1645920" cy="24231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65760" y="20939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59E0B"/>
          </a:solidFill>
          <a:ln/>
        </p:spPr>
      </p:sp>
      <p:sp>
        <p:nvSpPr>
          <p:cNvPr id="27" name="Text 24"/>
          <p:cNvSpPr/>
          <p:nvPr/>
        </p:nvSpPr>
        <p:spPr>
          <a:xfrm>
            <a:off x="713232" y="205740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Klasifikasi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365760" y="2404872"/>
            <a:ext cx="1426464" cy="1892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HSE isi kategori &amp; risiko. Jangan biarkan “Belum diklasifikasi”.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1993392" y="1965960"/>
            <a:ext cx="1645920" cy="24231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103120" y="20939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31" name="Text 28"/>
          <p:cNvSpPr/>
          <p:nvPr/>
        </p:nvSpPr>
        <p:spPr>
          <a:xfrm>
            <a:off x="2450592" y="205740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Triage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2103120" y="2404872"/>
            <a:ext cx="1426464" cy="1892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Baca deskripsi &amp; foto. HiPo masuk investigasi.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3730752" y="1965960"/>
            <a:ext cx="1645920" cy="24231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840480" y="20939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35" name="Text 32"/>
          <p:cNvSpPr/>
          <p:nvPr/>
        </p:nvSpPr>
        <p:spPr>
          <a:xfrm>
            <a:off x="4187952" y="205740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Assign PIC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3840480" y="2404872"/>
            <a:ext cx="1426464" cy="1892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Tunjuk departemen penanggung jawab.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5468112" y="1965960"/>
            <a:ext cx="1645920" cy="24231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577840" y="20939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8B5CF6"/>
          </a:solidFill>
          <a:ln/>
        </p:spPr>
      </p:sp>
      <p:sp>
        <p:nvSpPr>
          <p:cNvPr id="39" name="Text 36"/>
          <p:cNvSpPr/>
          <p:nvPr/>
        </p:nvSpPr>
        <p:spPr>
          <a:xfrm>
            <a:off x="5925312" y="205740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CAPA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5577840" y="2404872"/>
            <a:ext cx="1426464" cy="1892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Tindakan korektif: owner, due date, status.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7205472" y="1965960"/>
            <a:ext cx="1645920" cy="24231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7315200" y="20939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43" name="Text 40"/>
          <p:cNvSpPr/>
          <p:nvPr/>
        </p:nvSpPr>
        <p:spPr>
          <a:xfrm>
            <a:off x="7662672" y="205740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Verifikasi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7315200" y="2404872"/>
            <a:ext cx="1426464" cy="1892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HSE cek tindakan efektif, lalu Closed. Export PDF notice.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Fungsi tiap menu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Penjelasan singkat untuk orang yang baru pakai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2004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2976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2976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Daftar 10 laporan per halaman. Klik nama: klasifikasi, perihal, PDF Notice. Tema gelap/terang.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0040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1012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6366F1"/>
          </a:solidFill>
          <a:ln/>
        </p:spPr>
      </p:sp>
      <p:sp>
        <p:nvSpPr>
          <p:cNvPr id="14" name="Text 11"/>
          <p:cNvSpPr/>
          <p:nvPr/>
        </p:nvSpPr>
        <p:spPr>
          <a:xfrm>
            <a:off x="365760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Analytics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331012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Weekly/Monthly Report (filter tanggal) + import Excel/CSV data lama HSE + flowchart.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08076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048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59E0B"/>
          </a:solidFill>
          <a:ln/>
        </p:spPr>
      </p:sp>
      <p:sp>
        <p:nvSpPr>
          <p:cNvPr id="18" name="Text 15"/>
          <p:cNvSpPr/>
          <p:nvPr/>
        </p:nvSpPr>
        <p:spPr>
          <a:xfrm>
            <a:off x="653796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HSE Log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19048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Grafik: HSE mana yang aktif, kasus ringan vs investigasi. Super Admin.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2004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976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EF4444"/>
          </a:solidFill>
          <a:ln/>
        </p:spPr>
      </p:sp>
      <p:sp>
        <p:nvSpPr>
          <p:cNvPr id="22" name="Text 19"/>
          <p:cNvSpPr/>
          <p:nvPr/>
        </p:nvSpPr>
        <p:spPr>
          <a:xfrm>
            <a:off x="77724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2976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Super Admin: tambah user, pilih Super Admin / HSE / Viewer, aktifkan, ganti password.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320040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31012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26" name="Text 23"/>
          <p:cNvSpPr/>
          <p:nvPr/>
        </p:nvSpPr>
        <p:spPr>
          <a:xfrm>
            <a:off x="365760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Notifications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331012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Daftar email Resend — kabar otomatis laporan baru atau HiPo.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608076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9048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30" name="Text 27"/>
          <p:cNvSpPr/>
          <p:nvPr/>
        </p:nvSpPr>
        <p:spPr>
          <a:xfrm>
            <a:off x="653796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Reporter form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619048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HP tanpa login, bilingual ID+EN. Nama, lokasi, cerita, foto, lalu kirim.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 masukin email notifikasi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Supaya HSE dapat kabar otomatis — tanpa setting server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20040" y="1051560"/>
            <a:ext cx="2743200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48056" y="1216152"/>
            <a:ext cx="347472" cy="347472"/>
          </a:xfrm>
          <a:prstGeom prst="ellipse">
            <a:avLst/>
          </a:prstGeom>
          <a:solidFill>
            <a:srgbClr val="F37021"/>
          </a:solidFill>
          <a:ln/>
        </p:spPr>
      </p:sp>
      <p:sp>
        <p:nvSpPr>
          <p:cNvPr id="10" name="Text 7"/>
          <p:cNvSpPr/>
          <p:nvPr/>
        </p:nvSpPr>
        <p:spPr>
          <a:xfrm>
            <a:off x="448056" y="1234440"/>
            <a:ext cx="347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86968" y="1216152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Login admin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466344" y="1691640"/>
            <a:ext cx="245059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bact-safety-observation-modern.vercel.app/admin/login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200400" y="1051560"/>
            <a:ext cx="2743200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328416" y="1216152"/>
            <a:ext cx="347472" cy="347472"/>
          </a:xfrm>
          <a:prstGeom prst="ellipse">
            <a:avLst/>
          </a:prstGeom>
          <a:solidFill>
            <a:srgbClr val="F37021"/>
          </a:solidFill>
          <a:ln/>
        </p:spPr>
      </p:sp>
      <p:sp>
        <p:nvSpPr>
          <p:cNvPr id="15" name="Text 12"/>
          <p:cNvSpPr/>
          <p:nvPr/>
        </p:nvSpPr>
        <p:spPr>
          <a:xfrm>
            <a:off x="3328416" y="1234440"/>
            <a:ext cx="347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767328" y="1216152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Buka menu Notifikasi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346704" y="1691640"/>
            <a:ext cx="245059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 atas, klik Notifikasi.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080760" y="1051560"/>
            <a:ext cx="2743200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208776" y="1216152"/>
            <a:ext cx="347472" cy="347472"/>
          </a:xfrm>
          <a:prstGeom prst="ellipse">
            <a:avLst/>
          </a:prstGeom>
          <a:solidFill>
            <a:srgbClr val="F37021"/>
          </a:solidFill>
          <a:ln/>
        </p:spPr>
      </p:sp>
      <p:sp>
        <p:nvSpPr>
          <p:cNvPr id="20" name="Text 17"/>
          <p:cNvSpPr/>
          <p:nvPr/>
        </p:nvSpPr>
        <p:spPr>
          <a:xfrm>
            <a:off x="6208776" y="1234440"/>
            <a:ext cx="347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647688" y="1216152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Ketik email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227064" y="1691640"/>
            <a:ext cx="245059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Contoh: hse@bact.co.id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320040" y="2606040"/>
            <a:ext cx="2743200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48056" y="2770632"/>
            <a:ext cx="347472" cy="347472"/>
          </a:xfrm>
          <a:prstGeom prst="ellipse">
            <a:avLst/>
          </a:prstGeom>
          <a:solidFill>
            <a:srgbClr val="F37021"/>
          </a:solidFill>
          <a:ln/>
        </p:spPr>
      </p:sp>
      <p:sp>
        <p:nvSpPr>
          <p:cNvPr id="25" name="Text 22"/>
          <p:cNvSpPr/>
          <p:nvPr/>
        </p:nvSpPr>
        <p:spPr>
          <a:xfrm>
            <a:off x="448056" y="2788920"/>
            <a:ext cx="347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886968" y="2770632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Klik Tambah email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466344" y="3246120"/>
            <a:ext cx="245059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Email masuk ke daftar.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3200400" y="2606040"/>
            <a:ext cx="2743200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328416" y="2770632"/>
            <a:ext cx="347472" cy="347472"/>
          </a:xfrm>
          <a:prstGeom prst="ellipse">
            <a:avLst/>
          </a:prstGeom>
          <a:solidFill>
            <a:srgbClr val="F37021"/>
          </a:solidFill>
          <a:ln/>
        </p:spPr>
      </p:sp>
      <p:sp>
        <p:nvSpPr>
          <p:cNvPr id="30" name="Text 27"/>
          <p:cNvSpPr/>
          <p:nvPr/>
        </p:nvSpPr>
        <p:spPr>
          <a:xfrm>
            <a:off x="3328416" y="2788920"/>
            <a:ext cx="347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3767328" y="2770632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Cek status Aktif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346704" y="3246120"/>
            <a:ext cx="245059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Kalau Nonaktif, klik Aktifkan.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6080760" y="2606040"/>
            <a:ext cx="2743200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208776" y="2770632"/>
            <a:ext cx="347472" cy="347472"/>
          </a:xfrm>
          <a:prstGeom prst="ellipse">
            <a:avLst/>
          </a:prstGeom>
          <a:solidFill>
            <a:srgbClr val="F37021"/>
          </a:solidFill>
          <a:ln/>
        </p:spPr>
      </p:sp>
      <p:sp>
        <p:nvSpPr>
          <p:cNvPr id="35" name="Text 32"/>
          <p:cNvSpPr/>
          <p:nvPr/>
        </p:nvSpPr>
        <p:spPr>
          <a:xfrm>
            <a:off x="6208776" y="2788920"/>
            <a:ext cx="347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400" dirty="0"/>
          </a:p>
        </p:txBody>
      </p:sp>
      <p:sp>
        <p:nvSpPr>
          <p:cNvPr id="36" name="Text 33"/>
          <p:cNvSpPr/>
          <p:nvPr/>
        </p:nvSpPr>
        <p:spPr>
          <a:xfrm>
            <a:off x="6647688" y="2770632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Kirim tes (opsional)</a:t>
            </a:r>
            <a:endParaRPr lang="en-US" sz="1400" dirty="0"/>
          </a:p>
        </p:txBody>
      </p:sp>
      <p:sp>
        <p:nvSpPr>
          <p:cNvPr id="37" name="Text 34"/>
          <p:cNvSpPr/>
          <p:nvPr/>
        </p:nvSpPr>
        <p:spPr>
          <a:xfrm>
            <a:off x="6227064" y="3246120"/>
            <a:ext cx="245059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Cek Inbox dan folder Spam.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 &amp; akses login admin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Menu Pengguna hanya muncul untuk Super Admin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20040" y="1024128"/>
            <a:ext cx="276148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29768" y="115214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EF4444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115568"/>
            <a:ext cx="22128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Super Admin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29768" y="1463040"/>
            <a:ext cx="2542032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Semua menu: Dashboard, Analitik, Log HSE, Notifikasi, Pengguna. Ubah laporan + kelola akun.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00400" y="1024128"/>
            <a:ext cx="276148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10128" y="115214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14" name="Text 11"/>
          <p:cNvSpPr/>
          <p:nvPr/>
        </p:nvSpPr>
        <p:spPr>
          <a:xfrm>
            <a:off x="3657600" y="1115568"/>
            <a:ext cx="22128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HSE Officer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3310128" y="1463040"/>
            <a:ext cx="2542032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Dashboard, Analitik, Notifikasi. Klasifikasi, investigasi, PDF, email. Tidak kelola user.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080760" y="1024128"/>
            <a:ext cx="276148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0488" y="115214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64748B"/>
          </a:solidFill>
          <a:ln/>
        </p:spPr>
      </p:sp>
      <p:sp>
        <p:nvSpPr>
          <p:cNvPr id="18" name="Text 15"/>
          <p:cNvSpPr/>
          <p:nvPr/>
        </p:nvSpPr>
        <p:spPr>
          <a:xfrm>
            <a:off x="6537960" y="1115568"/>
            <a:ext cx="22128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Viewer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190488" y="1463040"/>
            <a:ext cx="2542032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 &amp; Analitik. Lihat saja — tidak bisa ubah laporan, PDF, atau pengaturan.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292608" y="2743200"/>
            <a:ext cx="8558784" cy="1737360"/>
          </a:xfrm>
          <a:prstGeom prst="roundRect">
            <a:avLst>
              <a:gd name="adj" fmla="val 4211"/>
            </a:avLst>
          </a:prstGeom>
          <a:solidFill>
            <a:srgbClr val="1A1A1A"/>
          </a:solidFill>
          <a:ln/>
        </p:spPr>
      </p:sp>
      <p:sp>
        <p:nvSpPr>
          <p:cNvPr id="21" name="Text 18"/>
          <p:cNvSpPr/>
          <p:nvPr/>
        </p:nvSpPr>
        <p:spPr>
          <a:xfrm>
            <a:off x="457200" y="28529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 Super Admin menambah user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457200" y="3163824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Login Super Admin  →  2. Menu Pengguna  →  3. Isi email + password sementara + role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Tambah pengguna  →  5. Beri akun itu ke orangnya (/admin/login)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Aktifkan / Nonaktifkan kapan saja. Nonaktif = tidak bisa login. Ganti password dari daftar.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Assign PIC di laporan = pilih departemen follow-up, bukan role login.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PDF Notice &amp; Investigasi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Diunduh dari detail laporan di dashboard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2004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2976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Judul 1 baris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2976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NOTICE OF SAFETY OBSERVATION atau INVESTIGATION REPORT di samping logo.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0040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1012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14" name="Text 11"/>
          <p:cNvSpPr/>
          <p:nvPr/>
        </p:nvSpPr>
        <p:spPr>
          <a:xfrm>
            <a:off x="365760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Perihal / Subject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331012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Isi di detail laporan. Jangan taruh nama pelapor di perihal.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08076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048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6366F1"/>
          </a:solidFill>
          <a:ln/>
        </p:spPr>
      </p:sp>
      <p:sp>
        <p:nvSpPr>
          <p:cNvPr id="18" name="Text 15"/>
          <p:cNvSpPr/>
          <p:nvPr/>
        </p:nvSpPr>
        <p:spPr>
          <a:xfrm>
            <a:off x="653796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Pelapor / Reported by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19048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Nama pelapor tampil di baris sendiri, terpisah dari perihal.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2004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976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59E0B"/>
          </a:solidFill>
          <a:ln/>
        </p:spPr>
      </p:sp>
      <p:sp>
        <p:nvSpPr>
          <p:cNvPr id="22" name="Text 19"/>
          <p:cNvSpPr/>
          <p:nvPr/>
        </p:nvSpPr>
        <p:spPr>
          <a:xfrm>
            <a:off x="77724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 No.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2976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Kolom kanan: nomor SOC (2 baris) + Effective Date. Tidak numpuk.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320040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31012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26" name="Text 23"/>
          <p:cNvSpPr/>
          <p:nvPr/>
        </p:nvSpPr>
        <p:spPr>
          <a:xfrm>
            <a:off x="365760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Centang tindakan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331012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 detail laporan, centang aksi yang sudah dikerjakan. Muncul kotak centang di PDF.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608076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9048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EF4444"/>
          </a:solidFill>
          <a:ln/>
        </p:spPr>
      </p:sp>
      <p:sp>
        <p:nvSpPr>
          <p:cNvPr id="30" name="Text 27"/>
          <p:cNvSpPr/>
          <p:nvPr/>
        </p:nvSpPr>
        <p:spPr>
          <a:xfrm>
            <a:off x="653796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Kapan investigasi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619048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Hanya jika HSE centang lanjut investigasi (HiPo / High / Near Miss).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HSE — tracking siapa yang aktif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Menu Log HSE  ·  Super Admin  ·  /admin/aktivitas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2004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2976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Kartu trading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2976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Aksi HSE, HSE aktif, SOC disentuh, kasus ringan, investigasi + sparkline.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0040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1012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14" name="Text 11"/>
          <p:cNvSpPr/>
          <p:nvPr/>
        </p:nvSpPr>
        <p:spPr>
          <a:xfrm>
            <a:off x="365760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Grafik 14 hari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331012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aksi harian: semua aksi, ringan (hijau), investigasi (kuning).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08076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048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59E0B"/>
          </a:solidFill>
          <a:ln/>
        </p:spPr>
      </p:sp>
      <p:sp>
        <p:nvSpPr>
          <p:cNvPr id="18" name="Text 15"/>
          <p:cNvSpPr/>
          <p:nvPr/>
        </p:nvSpPr>
        <p:spPr>
          <a:xfrm>
            <a:off x="653796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Siapa yang close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19048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per orang: kasus ringan vs investigasi. Klik kartu HSE untuk filter log.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2004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976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22" name="Text 19"/>
          <p:cNvSpPr/>
          <p:nvPr/>
        </p:nvSpPr>
        <p:spPr>
          <a:xfrm>
            <a:off x="77724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Kasus ringan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2976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Klasifikasi, close tanpa investigasi, follow-up / CAPA.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320040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31012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EF4444"/>
          </a:solidFill>
          <a:ln/>
        </p:spPr>
      </p:sp>
      <p:sp>
        <p:nvSpPr>
          <p:cNvPr id="26" name="Text 23"/>
          <p:cNvSpPr/>
          <p:nvPr/>
        </p:nvSpPr>
        <p:spPr>
          <a:xfrm>
            <a:off x="365760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Investigasi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331012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Jejak 5W+1H, root cause, PDF investigasi. Dihitung terpisah.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608076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9048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8B5CF6"/>
          </a:solidFill>
          <a:ln/>
        </p:spPr>
      </p:sp>
      <p:sp>
        <p:nvSpPr>
          <p:cNvPr id="30" name="Text 27"/>
          <p:cNvSpPr/>
          <p:nvPr/>
        </p:nvSpPr>
        <p:spPr>
          <a:xfrm>
            <a:off x="653796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Filter periode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619048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Hari ini / 7 hari / 30 hari / semua. Daftar aktivitas tetap di bawah grafik.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Satu alur, dari lapangan sampai closed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QR  →  form ringkas  →  email HSE  →  klasifikasi  →  PIC &amp; CAPA  →  Closed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377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Pelapor hanya cerita + foto.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HSE yang menentukan kategori dan risiko.</a:t>
            </a:r>
            <a:endParaRPr lang="en-US" sz="1500" dirty="0"/>
          </a:p>
        </p:txBody>
      </p:sp>
      <p:pic>
        <p:nvPicPr>
          <p:cNvPr id="7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46120" y="3246120"/>
            <a:ext cx="2651760" cy="8229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— Batu Ampar Container Terminal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PT. BACT — Batu Ampar Container Terminal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Safety Observation Card — Alur Kerja HSE</dc:title>
  <dc:subject>PptxGenJS Presentation</dc:subject>
  <dc:creator>PT. BACT HSSE</dc:creator>
  <cp:lastModifiedBy>PT. BACT HSSE</cp:lastModifiedBy>
  <cp:revision>1</cp:revision>
  <dcterms:created xsi:type="dcterms:W3CDTF">2026-09-12T02:03:21Z</dcterms:created>
  <dcterms:modified xsi:type="dcterms:W3CDTF">2026-09-12T02:03:21Z</dcterms:modified>
</cp:coreProperties>
</file>