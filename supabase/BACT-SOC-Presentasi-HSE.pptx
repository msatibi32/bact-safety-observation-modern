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\Projects\safety-observation-card\public\logo\bac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26080" y="914400"/>
            <a:ext cx="3291840" cy="10972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2860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Observation Card</a:t>
            </a:r>
            <a:endParaRPr lang="en-US" sz="3600" dirty="0"/>
          </a:p>
        </p:txBody>
      </p:sp>
      <p:sp>
        <p:nvSpPr>
          <p:cNvPr id="4" name="Text 1"/>
          <p:cNvSpPr/>
          <p:nvPr/>
        </p:nvSpPr>
        <p:spPr>
          <a:xfrm>
            <a:off x="457200" y="29260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37021"/>
                </a:solidFill>
              </a:rPr>
              <a:t>Sistem Pelaporan Observasi Keselamatan Kerja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36576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PT. BACT — Batu Ampar Container Terminal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An ICTSI Group Company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Presentasi untuk Tim HSE ·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9728"/>
            <a:ext cx="1280160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828800" y="13716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370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Latar Belakang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828800" y="50292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Mengapa aplikasi ini dibuat?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57200" y="1051560"/>
            <a:ext cx="82296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Pelaporan keselamatan di lapangan perlu cepat — dari HP, tanpa login rumit.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harus terpusat agar HSE bisa follow-up, assign PIC, dan menutup laporan.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Mengacu praktik industri migas: ISO 45001, IOGP Life Saving Rules, HiPo management.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Menggantikan formulir manual dengan sistem digital terintegrasi.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9728"/>
            <a:ext cx="1280160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828800" y="13716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370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Tujuan Aplikasi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828800" y="50292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Apa yang ingin dicapai?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57200" y="1051560"/>
            <a:ext cx="82296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Mempermudah pelaporan unsafe act, unsafe condition, near miss, dan observasi positif.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Dokumentasi bukti foto + koordinat GPS lokasi kejadian.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 admin lengkap: triage → investigasi → CAPA → verifikasi → closed.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analitik, KPI, scorecard kontraktor, dan peta hotspot.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Notifikasi real-time ke tim HSE (dashboard + email).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9728"/>
            <a:ext cx="1280160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828800" y="13716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370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Siapa Penggunanya?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828800" y="50292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Aktor sistem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57200" y="1051560"/>
            <a:ext cx="82296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Pelapor — karyawan, kontraktor, visitor: akses form publik tanpa login.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HSE Officer — review laporan, triage, investigasi, verifikasi penutupan.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 / Departemen — menindaklanjuti laporan yang di-assign ke departemennya.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 — kelola KPI, email notifikasi, akses penuh.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Viewer — hanya melihat data (read-only).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9728"/>
            <a:ext cx="1280160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828800" y="13716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370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 Pelaporan (Publik)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828800" y="50292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URL: bact-safety-observation-modern.vercel.app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57200" y="1051560"/>
            <a:ext cx="82296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pelapor: nama, departemen, perusahaan — opsi laporan anonim.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Lokasi kejadian (teks) + tombol ambil GPS otomatis.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Kategori: Unsafe Act, Unsafe Condition, Near Miss, Positive Observation.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Tingkat risiko aktual &amp; potensi risiko (Low / Medium / High).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Upload foto bukti (bisa lebih dari satu).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Tindakan langsung &amp; rekomendasi perbaikan.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PWA: bisa di-install di HP, laporan offline tersimpan &amp; sync otomatis.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9728"/>
            <a:ext cx="1280160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828800" y="13716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370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IOGP Life Saving Rules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828800" y="50292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Fungsi field ini di form — pertanyaan HSE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57200" y="1051560"/>
            <a:ext cx="82296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IOGP = International Association of Oil &amp; Gas Producers.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 Saving Rules = 9 aturan penyelamat nyawa di industri oil &amp; gas.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 di form mencatat apakah observasi terkait salah satu aturan IOGP.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Pilihan: Bypassing Safety Controls, Confined Space, Driving, Hot Work, dll.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"Tidak terkait" = observasi tidak masuk kategori Life Saving Rule.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Manfaat: prioritas investigasi lebih tinggi jika melanggar LSR + mendukung audit migas.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Contoh: pekerja tanpa APD masuk confined space → pilih "Confined Space".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9728"/>
            <a:ext cx="1280160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828800" y="13716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370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HiPo &amp; Stop Work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828800" y="50292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Deteksi otomatis laporan berisiko tinggi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57200" y="1051560"/>
            <a:ext cx="82296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HiPo (High Potential) = kejadian berpotensi cedera serius atau fatal.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 otomatis menandai HiPo jika: risiko High, near miss High, atau Stop Work.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Laporan HiPo langsung status "Under Review" (bukan Open biasa).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Deadline eskalasi 24 jam — banner merah di dashboard jika terlambat.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 Work = pekerjaan di area dihentikan sementara (checkbox di form).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9728"/>
            <a:ext cx="1280160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828800" y="13716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370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Admin — Command Center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828800" y="50292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URL: /admin (perlu login)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57200" y="1051560"/>
            <a:ext cx="82296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Traffic: statistik total, aktif, HiPo, closed + chart 14 hari.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Banner notifikasi laporan baru saat login.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Daftar laporan dengan filter status &amp; HiPo.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 panel: assign PIC, ubah status workflow, catatan triage.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Tampilan mobile: card list + bottom navigation.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PDF per laporan (format Notice BACT).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9728"/>
            <a:ext cx="1280160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828800" y="13716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370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 Status (6 Tahap)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828800" y="50292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Alur penanganan laporan HSE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57200" y="1051560"/>
            <a:ext cx="82296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— laporan baru masuk.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 Review — HSE melakukan triage &amp; penilaian awal.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Progress — PIC menindaklanjuti tindakan perbaikan.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Pending Verification — menunggu verifikasi efektivitas oleh HSE.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Closed — laporan selesai ditangani.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Rejected — laporan tidak valid / duplikat.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9728"/>
            <a:ext cx="1280160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828800" y="13716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370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Flow Diagram — Gambaran Umum Sistem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828800" y="50292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pelapor sampai laporan ditutup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411480" y="1828800"/>
            <a:ext cx="1417320" cy="594360"/>
          </a:xfrm>
          <a:prstGeom prst="roundRect">
            <a:avLst>
              <a:gd name="adj" fmla="val 12308"/>
            </a:avLst>
          </a:prstGeom>
          <a:solidFill>
            <a:srgbClr val="3B82F6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11480" y="1828800"/>
            <a:ext cx="1417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Pelapor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(Karyawan 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Kontraktor)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1874520" y="2025396"/>
            <a:ext cx="365760" cy="201168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331720" y="1828800"/>
            <a:ext cx="1417320" cy="594360"/>
          </a:xfrm>
          <a:prstGeom prst="roundRect">
            <a:avLst>
              <a:gd name="adj" fmla="val 12308"/>
            </a:avLst>
          </a:prstGeom>
          <a:solidFill>
            <a:srgbClr val="F37021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331720" y="1828800"/>
            <a:ext cx="1417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 SOC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Foto + GPS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3794760" y="2025396"/>
            <a:ext cx="365760" cy="201168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251960" y="1828800"/>
            <a:ext cx="1417320" cy="594360"/>
          </a:xfrm>
          <a:prstGeom prst="roundRect">
            <a:avLst>
              <a:gd name="adj" fmla="val 12308"/>
            </a:avLst>
          </a:prstGeom>
          <a:solidFill>
            <a:srgbClr val="6366F1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251960" y="1828800"/>
            <a:ext cx="1417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 + Storage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5715000" y="2025396"/>
            <a:ext cx="365760" cy="201168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172200" y="1828800"/>
            <a:ext cx="1417320" cy="594360"/>
          </a:xfrm>
          <a:prstGeom prst="roundRect">
            <a:avLst>
              <a:gd name="adj" fmla="val 12308"/>
            </a:avLst>
          </a:prstGeom>
          <a:solidFill>
            <a:srgbClr val="F59E0B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172200" y="1828800"/>
            <a:ext cx="1417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Notifikasi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+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7635240" y="2025396"/>
            <a:ext cx="365760" cy="201168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092440" y="1828800"/>
            <a:ext cx="1417320" cy="594360"/>
          </a:xfrm>
          <a:prstGeom prst="roundRect">
            <a:avLst>
              <a:gd name="adj" fmla="val 12308"/>
            </a:avLst>
          </a:prstGeom>
          <a:solidFill>
            <a:srgbClr val="F37021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092440" y="1828800"/>
            <a:ext cx="1417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HSE Review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Assign PIC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9555480" y="2025396"/>
            <a:ext cx="365760" cy="201168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0012680" y="1828800"/>
            <a:ext cx="1417320" cy="594360"/>
          </a:xfrm>
          <a:prstGeom prst="roundRect">
            <a:avLst>
              <a:gd name="adj" fmla="val 12308"/>
            </a:avLst>
          </a:prstGeom>
          <a:solidFill>
            <a:srgbClr val="10B981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012680" y="1828800"/>
            <a:ext cx="1417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Closed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Selesai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28346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Aktor: Pelapor (publik, tanpa login)  →  Sistem cloud  →  Tim HSE (login admin)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9728"/>
            <a:ext cx="1280160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828800" y="13716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370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Flow Diagram — Alur Pelapor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828800" y="50292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Langkah-langkah submit laporan dari lapangan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2880360" y="1143000"/>
            <a:ext cx="2926080" cy="502920"/>
          </a:xfrm>
          <a:prstGeom prst="roundRect">
            <a:avLst>
              <a:gd name="adj" fmla="val 14545"/>
            </a:avLst>
          </a:prstGeom>
          <a:solidFill>
            <a:srgbClr val="3B82F6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2880360" y="114300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Buka App / Scan QR Code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4242816" y="1664208"/>
            <a:ext cx="201168" cy="256032"/>
          </a:xfrm>
          <a:prstGeom prst="down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880360" y="1993392"/>
            <a:ext cx="2926080" cy="502920"/>
          </a:xfrm>
          <a:prstGeom prst="roundRect">
            <a:avLst>
              <a:gd name="adj" fmla="val 14545"/>
            </a:avLst>
          </a:prstGeom>
          <a:solidFill>
            <a:srgbClr val="F37021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880360" y="199339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Isi Data Pelapor &amp; Perusahaan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242816" y="2514600"/>
            <a:ext cx="201168" cy="256032"/>
          </a:xfrm>
          <a:prstGeom prst="down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880360" y="2843784"/>
            <a:ext cx="2926080" cy="502920"/>
          </a:xfrm>
          <a:prstGeom prst="roundRect">
            <a:avLst>
              <a:gd name="adj" fmla="val 14545"/>
            </a:avLst>
          </a:prstGeom>
          <a:solidFill>
            <a:srgbClr val="F37021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880360" y="2843784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Isi Lokasi + Ambil GPS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242816" y="3364992"/>
            <a:ext cx="201168" cy="256032"/>
          </a:xfrm>
          <a:prstGeom prst="down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880360" y="3694176"/>
            <a:ext cx="2926080" cy="502920"/>
          </a:xfrm>
          <a:prstGeom prst="roundRect">
            <a:avLst>
              <a:gd name="adj" fmla="val 14545"/>
            </a:avLst>
          </a:prstGeom>
          <a:solidFill>
            <a:srgbClr val="F37021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2880360" y="3694176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Pilih Kategori &amp; Tingkat Risiko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4242816" y="4215384"/>
            <a:ext cx="201168" cy="256032"/>
          </a:xfrm>
          <a:prstGeom prst="down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880360" y="4544568"/>
            <a:ext cx="2926080" cy="502920"/>
          </a:xfrm>
          <a:prstGeom prst="roundRect">
            <a:avLst>
              <a:gd name="adj" fmla="val 14545"/>
            </a:avLst>
          </a:prstGeom>
          <a:solidFill>
            <a:srgbClr val="F37021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880360" y="4544568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Upload Foto Bukti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242816" y="5065776"/>
            <a:ext cx="201168" cy="256032"/>
          </a:xfrm>
          <a:prstGeom prst="down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880360" y="5394960"/>
            <a:ext cx="2926080" cy="502920"/>
          </a:xfrm>
          <a:prstGeom prst="roundRect">
            <a:avLst>
              <a:gd name="adj" fmla="val 14545"/>
            </a:avLst>
          </a:prstGeom>
          <a:solidFill>
            <a:srgbClr val="EF4444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2880360" y="539496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Sistem Deteksi HiPo Otomatis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4242816" y="5916168"/>
            <a:ext cx="201168" cy="256032"/>
          </a:xfrm>
          <a:prstGeom prst="down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2880360" y="6245352"/>
            <a:ext cx="2926080" cy="502920"/>
          </a:xfrm>
          <a:prstGeom prst="roundRect">
            <a:avLst>
              <a:gd name="adj" fmla="val 14545"/>
            </a:avLst>
          </a:prstGeom>
          <a:solidFill>
            <a:srgbClr val="6366F1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2880360" y="624535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Submit → Upload Storage + Simpan DB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4242816" y="6766560"/>
            <a:ext cx="201168" cy="256032"/>
          </a:xfrm>
          <a:prstGeom prst="down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880360" y="7095744"/>
            <a:ext cx="2926080" cy="502920"/>
          </a:xfrm>
          <a:prstGeom prst="roundRect">
            <a:avLst>
              <a:gd name="adj" fmla="val 14545"/>
            </a:avLst>
          </a:prstGeom>
          <a:solidFill>
            <a:srgbClr val="F59E0B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2880360" y="7095744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Notifikasi ke Tim HSE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4242816" y="7616952"/>
            <a:ext cx="201168" cy="256032"/>
          </a:xfrm>
          <a:prstGeom prst="down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2880360" y="7946136"/>
            <a:ext cx="2926080" cy="502920"/>
          </a:xfrm>
          <a:prstGeom prst="roundRect">
            <a:avLst>
              <a:gd name="adj" fmla="val 14545"/>
            </a:avLst>
          </a:prstGeom>
          <a:solidFill>
            <a:srgbClr val="10B981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2880360" y="7946136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 Konfirmasi Sukses ke Pelapor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457200" y="3474720"/>
            <a:ext cx="2011680" cy="640080"/>
          </a:xfrm>
          <a:prstGeom prst="roundRect">
            <a:avLst>
              <a:gd name="adj" fmla="val 11429"/>
            </a:avLst>
          </a:prstGeom>
          <a:solidFill>
            <a:srgbClr val="94A3B8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57200" y="347472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Offline?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Simpan lokal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dulu</a:t>
            </a:r>
            <a:endParaRPr lang="en-US" sz="900" dirty="0"/>
          </a:p>
        </p:txBody>
      </p:sp>
      <p:sp>
        <p:nvSpPr>
          <p:cNvPr id="34" name="Shape 31"/>
          <p:cNvSpPr/>
          <p:nvPr/>
        </p:nvSpPr>
        <p:spPr>
          <a:xfrm>
            <a:off x="2468880" y="3749040"/>
            <a:ext cx="118872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dash"/>
          </a:ln>
        </p:spPr>
      </p:sp>
      <p:sp>
        <p:nvSpPr>
          <p:cNvPr id="35" name="Text 32"/>
          <p:cNvSpPr/>
          <p:nvPr/>
        </p:nvSpPr>
        <p:spPr>
          <a:xfrm>
            <a:off x="457200" y="425196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Auto-sync saat online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9728"/>
            <a:ext cx="1280160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828800" y="13716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370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Flow Diagram — Alur HSE / Admin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828800" y="50292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Penanganan laporan dari notifikasi sampai closed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457200" y="1188720"/>
            <a:ext cx="1828800" cy="548640"/>
          </a:xfrm>
          <a:prstGeom prst="roundRect">
            <a:avLst>
              <a:gd name="adj" fmla="val 13333"/>
            </a:avLst>
          </a:prstGeom>
          <a:solidFill>
            <a:srgbClr val="F59E0B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57200" y="11887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Terima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Notifikasi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2331720" y="1371600"/>
            <a:ext cx="411480" cy="201168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788920" y="1188720"/>
            <a:ext cx="1828800" cy="548640"/>
          </a:xfrm>
          <a:prstGeom prst="roundRect">
            <a:avLst>
              <a:gd name="adj" fmla="val 13333"/>
            </a:avLst>
          </a:prstGeom>
          <a:solidFill>
            <a:srgbClr val="F37021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788920" y="11887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663440" y="1371600"/>
            <a:ext cx="411480" cy="201168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120640" y="1188720"/>
            <a:ext cx="1828800" cy="548640"/>
          </a:xfrm>
          <a:prstGeom prst="roundRect">
            <a:avLst>
              <a:gd name="adj" fmla="val 13333"/>
            </a:avLst>
          </a:prstGeom>
          <a:solidFill>
            <a:srgbClr val="F37021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120640" y="11887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Buka Detail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Laporan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6995160" y="1371600"/>
            <a:ext cx="411480" cy="201168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452360" y="1188720"/>
            <a:ext cx="1371600" cy="548640"/>
          </a:xfrm>
          <a:prstGeom prst="roundRect">
            <a:avLst>
              <a:gd name="adj" fmla="val 13333"/>
            </a:avLst>
          </a:prstGeom>
          <a:solidFill>
            <a:srgbClr val="F37021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452360" y="118872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Triage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HSE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3657600" y="1783080"/>
            <a:ext cx="201168" cy="320040"/>
          </a:xfrm>
          <a:prstGeom prst="down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560320" y="2240280"/>
            <a:ext cx="2194560" cy="502920"/>
          </a:xfrm>
          <a:prstGeom prst="roundRect">
            <a:avLst>
              <a:gd name="adj" fmla="val 14545"/>
            </a:avLst>
          </a:prstGeom>
          <a:solidFill>
            <a:srgbClr val="EF4444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560320" y="224028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HiPo / High Risk?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800600" y="2395728"/>
            <a:ext cx="411480" cy="201168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257800" y="2148840"/>
            <a:ext cx="2377440" cy="685800"/>
          </a:xfrm>
          <a:prstGeom prst="roundRect">
            <a:avLst>
              <a:gd name="adj" fmla="val 10667"/>
            </a:avLst>
          </a:prstGeom>
          <a:solidFill>
            <a:srgbClr val="DC2626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257800" y="2148840"/>
            <a:ext cx="2377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 → Investigasi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Root Cause (5 Whys)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3566160" y="2788920"/>
            <a:ext cx="201168" cy="274320"/>
          </a:xfrm>
          <a:prstGeom prst="down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2560320" y="3154680"/>
            <a:ext cx="2194560" cy="502920"/>
          </a:xfrm>
          <a:prstGeom prst="roundRect">
            <a:avLst>
              <a:gd name="adj" fmla="val 14545"/>
            </a:avLst>
          </a:prstGeom>
          <a:solidFill>
            <a:srgbClr val="F37021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2560320" y="315468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Assign PIC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4800600" y="3310128"/>
            <a:ext cx="411480" cy="201168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257800" y="3154680"/>
            <a:ext cx="2377440" cy="502920"/>
          </a:xfrm>
          <a:prstGeom prst="roundRect">
            <a:avLst>
              <a:gd name="adj" fmla="val 14545"/>
            </a:avLst>
          </a:prstGeom>
          <a:solidFill>
            <a:srgbClr val="8B5CF6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257800" y="315468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Buat CAPA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(jika perlu)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3566160" y="3703320"/>
            <a:ext cx="201168" cy="274320"/>
          </a:xfrm>
          <a:prstGeom prst="down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2286000" y="4069080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F37021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2286000" y="406908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Progress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(PIC tindak)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4160520" y="4224528"/>
            <a:ext cx="411480" cy="201168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4617720" y="4069080"/>
            <a:ext cx="2011680" cy="502920"/>
          </a:xfrm>
          <a:prstGeom prst="roundRect">
            <a:avLst>
              <a:gd name="adj" fmla="val 14545"/>
            </a:avLst>
          </a:prstGeom>
          <a:solidFill>
            <a:srgbClr val="F59E0B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4617720" y="406908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Pending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Verification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6675120" y="4224528"/>
            <a:ext cx="411480" cy="201168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7132320" y="4069080"/>
            <a:ext cx="1463040" cy="502920"/>
          </a:xfrm>
          <a:prstGeom prst="roundRect">
            <a:avLst>
              <a:gd name="adj" fmla="val 14545"/>
            </a:avLst>
          </a:prstGeom>
          <a:solidFill>
            <a:srgbClr val="10B981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7132320" y="4069080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000" dirty="0"/>
          </a:p>
        </p:txBody>
      </p:sp>
      <p:sp>
        <p:nvSpPr>
          <p:cNvPr id="38" name="Text 35"/>
          <p:cNvSpPr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Semua perubahan tercatat otomatis di tab Audit Trail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9728"/>
            <a:ext cx="1280160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828800" y="13716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370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Flow Diagram — Status Workflow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828800" y="50292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tahap penanganan laporan HSE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320040" y="2148840"/>
            <a:ext cx="1234440" cy="640080"/>
          </a:xfrm>
          <a:prstGeom prst="roundRect">
            <a:avLst>
              <a:gd name="adj" fmla="val 11429"/>
            </a:avLst>
          </a:prstGeom>
          <a:solidFill>
            <a:srgbClr val="3B82F6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20040" y="2148840"/>
            <a:ext cx="1234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591056" y="2368296"/>
            <a:ext cx="292608" cy="201168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901952" y="2148840"/>
            <a:ext cx="1234440" cy="640080"/>
          </a:xfrm>
          <a:prstGeom prst="roundRect">
            <a:avLst>
              <a:gd name="adj" fmla="val 11429"/>
            </a:avLst>
          </a:prstGeom>
          <a:solidFill>
            <a:srgbClr val="F37021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901952" y="2148840"/>
            <a:ext cx="1234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3172968" y="2368296"/>
            <a:ext cx="292608" cy="201168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483864" y="2148840"/>
            <a:ext cx="1234440" cy="640080"/>
          </a:xfrm>
          <a:prstGeom prst="roundRect">
            <a:avLst>
              <a:gd name="adj" fmla="val 11429"/>
            </a:avLst>
          </a:prstGeom>
          <a:solidFill>
            <a:srgbClr val="F59E0B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483864" y="2148840"/>
            <a:ext cx="1234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754880" y="2368296"/>
            <a:ext cx="292608" cy="201168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065776" y="2148840"/>
            <a:ext cx="1234440" cy="640080"/>
          </a:xfrm>
          <a:prstGeom prst="roundRect">
            <a:avLst>
              <a:gd name="adj" fmla="val 11429"/>
            </a:avLst>
          </a:prstGeom>
          <a:solidFill>
            <a:srgbClr val="8B5CF6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065776" y="2148840"/>
            <a:ext cx="1234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Pending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Verification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336792" y="2368296"/>
            <a:ext cx="292608" cy="201168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647688" y="2148840"/>
            <a:ext cx="1234440" cy="640080"/>
          </a:xfrm>
          <a:prstGeom prst="roundRect">
            <a:avLst>
              <a:gd name="adj" fmla="val 11429"/>
            </a:avLst>
          </a:prstGeom>
          <a:solidFill>
            <a:srgbClr val="10B981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647688" y="2148840"/>
            <a:ext cx="1234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Closed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3200400" y="3246120"/>
            <a:ext cx="1371600" cy="502920"/>
          </a:xfrm>
          <a:prstGeom prst="roundRect">
            <a:avLst>
              <a:gd name="adj" fmla="val 14545"/>
            </a:avLst>
          </a:prstGeom>
          <a:solidFill>
            <a:srgbClr val="64748B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200400" y="324612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Rejected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3886200" y="2788920"/>
            <a:ext cx="0" cy="502920"/>
          </a:xfrm>
          <a:prstGeom prst="line">
            <a:avLst/>
          </a:prstGeom>
          <a:noFill/>
          <a:ln w="12700">
            <a:solidFill>
              <a:srgbClr val="64748B"/>
            </a:solidFill>
            <a:prstDash val="dash"/>
          </a:ln>
        </p:spPr>
      </p:sp>
      <p:sp>
        <p:nvSpPr>
          <p:cNvPr id="23" name="Text 20"/>
          <p:cNvSpPr/>
          <p:nvPr/>
        </p:nvSpPr>
        <p:spPr>
          <a:xfrm>
            <a:off x="2560320" y="38404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(dari Under Review jika tidak valid)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457200" y="4160520"/>
            <a:ext cx="228600" cy="18288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5" name="Text 22"/>
          <p:cNvSpPr/>
          <p:nvPr/>
        </p:nvSpPr>
        <p:spPr>
          <a:xfrm>
            <a:off x="731520" y="4133088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</a:rPr>
              <a:t>Baru masuk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2148840" y="4160520"/>
            <a:ext cx="228600" cy="182880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27" name="Text 24"/>
          <p:cNvSpPr/>
          <p:nvPr/>
        </p:nvSpPr>
        <p:spPr>
          <a:xfrm>
            <a:off x="2423160" y="4133088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</a:rPr>
              <a:t>HSE aktif</a:t>
            </a:r>
            <a:endParaRPr lang="en-US" sz="800" dirty="0"/>
          </a:p>
        </p:txBody>
      </p:sp>
      <p:sp>
        <p:nvSpPr>
          <p:cNvPr id="28" name="Shape 25"/>
          <p:cNvSpPr/>
          <p:nvPr/>
        </p:nvSpPr>
        <p:spPr>
          <a:xfrm>
            <a:off x="3840480" y="4160520"/>
            <a:ext cx="228600" cy="1828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9" name="Text 26"/>
          <p:cNvSpPr/>
          <p:nvPr/>
        </p:nvSpPr>
        <p:spPr>
          <a:xfrm>
            <a:off x="4114800" y="4133088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</a:rPr>
              <a:t>PIC tindak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5532120" y="4160520"/>
            <a:ext cx="228600" cy="18288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1" name="Text 28"/>
          <p:cNvSpPr/>
          <p:nvPr/>
        </p:nvSpPr>
        <p:spPr>
          <a:xfrm>
            <a:off x="5806440" y="4133088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</a:rPr>
              <a:t>Verifikasi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7223760" y="4160520"/>
            <a:ext cx="228600" cy="18288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3" name="Text 30"/>
          <p:cNvSpPr/>
          <p:nvPr/>
        </p:nvSpPr>
        <p:spPr>
          <a:xfrm>
            <a:off x="7498080" y="4133088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</a:rPr>
              <a:t>Selesai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9728"/>
            <a:ext cx="1280160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828800" y="13716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370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Flow Diagram — Notifikasi Email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828800" y="50292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Otomatis saat ada laporan baru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365760" y="1920240"/>
            <a:ext cx="1554480" cy="594360"/>
          </a:xfrm>
          <a:prstGeom prst="roundRect">
            <a:avLst>
              <a:gd name="adj" fmla="val 12308"/>
            </a:avLst>
          </a:prstGeom>
          <a:solidFill>
            <a:srgbClr val="F37021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65760" y="192024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Laporan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Baru Submit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965960" y="2121408"/>
            <a:ext cx="411480" cy="201168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423160" y="1920240"/>
            <a:ext cx="1554480" cy="594360"/>
          </a:xfrm>
          <a:prstGeom prst="roundRect">
            <a:avLst>
              <a:gd name="adj" fmla="val 12308"/>
            </a:avLst>
          </a:prstGeom>
          <a:solidFill>
            <a:srgbClr val="6366F1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423160" y="192024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 SQL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notification_queue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4023360" y="2121408"/>
            <a:ext cx="411480" cy="201168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480560" y="1920240"/>
            <a:ext cx="1554480" cy="594360"/>
          </a:xfrm>
          <a:prstGeom prst="roundRect">
            <a:avLst>
              <a:gd name="adj" fmla="val 12308"/>
            </a:avLst>
          </a:prstGeom>
          <a:solidFill>
            <a:srgbClr val="6366F1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480560" y="192024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Webhook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6080760" y="2121408"/>
            <a:ext cx="411480" cy="201168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537960" y="1920240"/>
            <a:ext cx="1554480" cy="594360"/>
          </a:xfrm>
          <a:prstGeom prst="roundRect">
            <a:avLst>
              <a:gd name="adj" fmla="val 12308"/>
            </a:avLst>
          </a:prstGeom>
          <a:solidFill>
            <a:srgbClr val="F59E0B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537960" y="192024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Function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Resend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1051560" y="2560320"/>
            <a:ext cx="201168" cy="320040"/>
          </a:xfrm>
          <a:prstGeom prst="down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65760" y="3017520"/>
            <a:ext cx="1554480" cy="594360"/>
          </a:xfrm>
          <a:prstGeom prst="roundRect">
            <a:avLst>
              <a:gd name="adj" fmla="val 12308"/>
            </a:avLst>
          </a:prstGeom>
          <a:solidFill>
            <a:srgbClr val="3B82F6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65760" y="301752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Banner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Admin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5074920" y="2560320"/>
            <a:ext cx="201168" cy="320040"/>
          </a:xfrm>
          <a:prstGeom prst="down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480560" y="3017520"/>
            <a:ext cx="1554480" cy="594360"/>
          </a:xfrm>
          <a:prstGeom prst="roundRect">
            <a:avLst>
              <a:gd name="adj" fmla="val 12308"/>
            </a:avLst>
          </a:prstGeom>
          <a:solidFill>
            <a:srgbClr val="10B981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480560" y="301752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 ke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Daftar HSE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457200" y="36576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Email penerima dikelola di Admin → Notifikasi (tanpa ubah kode)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9728"/>
            <a:ext cx="1280160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828800" y="13716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370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Flow Diagram — Arsitektur Sistem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828800" y="50292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Komponen teknis &amp; alur data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365760" y="12344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34155"/>
                </a:solidFill>
              </a:rPr>
              <a:t>Pengguna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1554480" y="1097280"/>
            <a:ext cx="7132320" cy="685800"/>
          </a:xfrm>
          <a:prstGeom prst="rect">
            <a:avLst/>
          </a:prstGeom>
          <a:solidFill>
            <a:srgbClr val="3B82F6">
              <a:alpha val="15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691640" y="1188720"/>
            <a:ext cx="6858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</a:rPr>
              <a:t>Pelapor (Browser/HP)   ·   Admin HSE (Browser)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983480" y="1810512"/>
            <a:ext cx="201168" cy="201168"/>
          </a:xfrm>
          <a:prstGeom prst="down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65760" y="210312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34155"/>
                </a:solidFill>
              </a:rPr>
              <a:t>Frontend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1554480" y="1965960"/>
            <a:ext cx="7132320" cy="685800"/>
          </a:xfrm>
          <a:prstGeom prst="rect">
            <a:avLst/>
          </a:prstGeom>
          <a:solidFill>
            <a:srgbClr val="F37021">
              <a:alpha val="15000"/>
            </a:srgbClr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691640" y="2057400"/>
            <a:ext cx="6858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</a:rPr>
              <a:t>React + Vite + Tailwind   ·   Vercel CDN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983480" y="2679192"/>
            <a:ext cx="201168" cy="201168"/>
          </a:xfrm>
          <a:prstGeom prst="down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65760" y="297180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34155"/>
                </a:solidFill>
              </a:rPr>
              <a:t>Backend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1554480" y="2834640"/>
            <a:ext cx="7132320" cy="685800"/>
          </a:xfrm>
          <a:prstGeom prst="rect">
            <a:avLst/>
          </a:prstGeom>
          <a:solidFill>
            <a:srgbClr val="6366F1">
              <a:alpha val="15000"/>
            </a:srgbClr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691640" y="2926080"/>
            <a:ext cx="6858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</a:rPr>
              <a:t>Supabase PostgreSQL   ·   Storage (Foto)   ·   Auth   ·   Edge Functions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4983480" y="3547872"/>
            <a:ext cx="201168" cy="201168"/>
          </a:xfrm>
          <a:prstGeom prst="down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65760" y="38404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34155"/>
                </a:solidFill>
              </a:rPr>
              <a:t>Eksternal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1554480" y="3703320"/>
            <a:ext cx="7132320" cy="685800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691640" y="3794760"/>
            <a:ext cx="6858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</a:rPr>
              <a:t>Resend (Email)   ·   OpenStreetMap (Peta)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9728"/>
            <a:ext cx="1280160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828800" y="13716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370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 Detail Laporan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828800" y="50292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Investigasi · CAPA · Audit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57200" y="1051560"/>
            <a:ext cx="82296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 — info lengkap, foto, assign PIC, ubah status, catatan triage.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Investigasi — catatan investigasi lapangan + root cause (5 Whys) untuk HiPo/High.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 — Corrective &amp; Preventive Action: judul, owner, due date, status.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— riwayat semua perubahan (siapa, kapan, apa yang diubah).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Semua perubahan status tercatat otomatis di audit trail.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9728"/>
            <a:ext cx="1280160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828800" y="13716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370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Analitik &amp; KPI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828800" y="50292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URL: /admin/ringkasan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57200" y="1051560"/>
            <a:ext cx="82296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Statistik: total, aktif, closed, HiPo, high risk, positif.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Chart distribusi kategori &amp; tingkat risiko.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departemen &amp; scorecard kontraktor (HiPo, open, positif per perusahaan).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target vs aktual bulan ini (jumlah laporan, rasio positif, avg. hari tutup).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CSV semua data laporan.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9728"/>
            <a:ext cx="1280160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828800" y="13716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370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Peta Hotspot GPS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828800" y="50292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URL: /admin/peta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57200" y="1051560"/>
            <a:ext cx="82296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Peta interaktif (OpenStreetMap) menampilkan pin lokasi laporan.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Hanya laporan yang mengaktifkan GPS saat submit yang muncul.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Klik pin untuk lihat ringkasan: pelapor, kategori, lokasi.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Berguna untuk identifikasi area rawan / hotspot insiden berulang.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9728"/>
            <a:ext cx="1280160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828800" y="13716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370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Notifikasi Email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828800" y="50292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URL: /admin/pengaturan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57200" y="1051560"/>
            <a:ext cx="82296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Setiap laporan baru → antrian notifikasi → email ke tim HSE.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 bisa tambah/hapus email penerima dari dashboard (tanpa ubah kode).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HiPo mendapat email prioritas dengan subject khusus.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Tombol "Kirim antrian sekarang" untuk test manual.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Menggunakan Resend (gratis 100 email/hari untuk testing).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9728"/>
            <a:ext cx="1280160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828800" y="13716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370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QR Code &amp; Akses Cepat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828800" y="50292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URL: /qr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57200" y="1051560"/>
            <a:ext cx="82296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Halaman poster QR code untuk dipasang di area kerja terminal.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QR → langsung ke form pelaporan (tanpa ketik URL).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 QR statis tersedia di public/qr untuk print.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Jalankan npm run generate:qr untuk regenerate jika URL berubah.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9728"/>
            <a:ext cx="1280160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828800" y="13716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370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 &amp; Hak Akses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828800" y="50292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Keamanan berbasis peran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57200" y="1051560"/>
            <a:ext cx="82296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 — akses penuh + kelola email notifikasi &amp; KPI.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hse — review, edit laporan, investigasi, CAPA, verifikasi.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 — hanya lihat &amp; edit laporan yang di-assign ke departemennya.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viewer — read-only, tidak bisa ubah data.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 diset di Supabase Auth → User Metadata.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9728"/>
            <a:ext cx="1280160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828800" y="13716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370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Alur Kerja Pelapor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828800" y="50292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lapangan sampai terkirim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57200" y="1051560"/>
            <a:ext cx="82296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Buka app / scan QR → form pelaporan.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Isi data + foto + GPS (opsional).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Sistem deteksi HiPo otomatis.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Submit → foto upload ke Storage, data ke database.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Trigger notifikasi → dashboard HSE + antrian email.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Konfirmasi sukses ke pelapor.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Offline: laporan tersimpan lokal, terkirim saat online kembali.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9728"/>
            <a:ext cx="1280160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828800" y="13716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370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Alur Kerja HSE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828800" y="50292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notifikasi sampai closed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57200" y="1051560"/>
            <a:ext cx="82296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Terima notifikasi (dashboard / email).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Buka laporan → triage &amp; assign PIC.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HiPo/High → wajib investigasi + root cause.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Buat CAPA jika perlu tindakan korektif.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PIC tindaklanjuti → status In Progress.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HSE verifikasi efektivitas → Pending Verification.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Closed + catatan penutupan. Semua tercatat di Audit.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9728"/>
            <a:ext cx="1280160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828800" y="13716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370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Arsitektur Teknis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828800" y="50292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Komponen sistem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57200" y="1051560"/>
            <a:ext cx="82296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Frontend: React + Vite + Tailwind — hosting Vercel (CDN global).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Database: Supabase PostgreSQL — tabel observations, capa, audit, KPI.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Storage: Supabase — foto bukti laporan.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Auth: Supabase Auth — login admin/HSE.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Email: Resend API via Supabase Edge Functions.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PWA: vite-plugin-pwa — install di HP, cache offline.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9728"/>
            <a:ext cx="1280160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828800" y="13716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370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Ringkasan URL Aplikasi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828800" y="50292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Akses cepat</a:t>
            </a:r>
            <a:endParaRPr lang="en-US" sz="11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Halaman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70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URL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70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Akses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702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Form Pelapor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/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Publik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QR Poster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/qr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Publik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Login Admin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/admin/login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Publik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Dashboard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/admin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Admin/HSE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Analitik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/admin/ringkasan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Admin/HSE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Peta GPS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/admin/peta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Admin/HSE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Notifikasi Email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/admin/pengaturan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Admin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\Projects\safety-observation-card\public\logo\BACT Logo_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0" y="1371600"/>
            <a:ext cx="2286000" cy="7315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37021"/>
                </a:solidFill>
              </a:rPr>
              <a:t>Terima Kasih</a:t>
            </a:r>
            <a:endParaRPr lang="en-US" sz="4000" dirty="0"/>
          </a:p>
        </p:txBody>
      </p:sp>
      <p:sp>
        <p:nvSpPr>
          <p:cNvPr id="4" name="Text 1"/>
          <p:cNvSpPr/>
          <p:nvPr/>
        </p:nvSpPr>
        <p:spPr>
          <a:xfrm>
            <a:off x="457200" y="3291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Pertanyaan &amp; diskusi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Demo live: bact-safety-observation-modern.vercel.app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Safety Observation Card — Presentasi HSE</dc:title>
  <dc:subject>PptxGenJS Presentation</dc:subject>
  <dc:creator>PT. BACT HSSE</dc:creator>
  <cp:lastModifiedBy>PT. BACT HSSE</cp:lastModifiedBy>
  <cp:revision>1</cp:revision>
  <dcterms:created xsi:type="dcterms:W3CDTF">2026-08-30T01:22:19Z</dcterms:created>
  <dcterms:modified xsi:type="dcterms:W3CDTF">2026-08-30T01:22:19Z</dcterms:modified>
</cp:coreProperties>
</file>